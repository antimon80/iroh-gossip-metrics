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1" r:id="rId4"/>
    <p:sldId id="270" r:id="rId5"/>
    <p:sldId id="264" r:id="rId6"/>
    <p:sldId id="266" r:id="rId7"/>
    <p:sldId id="269" r:id="rId8"/>
    <p:sldId id="271" r:id="rId9"/>
    <p:sldId id="272" r:id="rId10"/>
    <p:sldId id="273" r:id="rId11"/>
    <p:sldId id="277" r:id="rId12"/>
    <p:sldId id="274" r:id="rId13"/>
    <p:sldId id="275" r:id="rId14"/>
    <p:sldId id="276" r:id="rId15"/>
    <p:sldId id="278" r:id="rId16"/>
    <p:sldId id="279" r:id="rId17"/>
    <p:sldId id="280" r:id="rId18"/>
    <p:sldId id="268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>
        <p:scale>
          <a:sx n="99" d="100"/>
          <a:sy n="99" d="100"/>
        </p:scale>
        <p:origin x="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012ECF-2B94-449D-AF5D-073C28ECFE4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F809DF2-A791-48A9-9DE6-1D1923C2669C}">
      <dgm:prSet/>
      <dgm:spPr/>
      <dgm:t>
        <a:bodyPr/>
        <a:lstStyle/>
        <a:p>
          <a:r>
            <a:rPr lang="en-GB" noProof="0" dirty="0"/>
            <a:t>P2P protocol for managing neighbourhoods in a dynamic network</a:t>
          </a:r>
        </a:p>
      </dgm:t>
    </dgm:pt>
    <dgm:pt modelId="{DC2D09B8-4295-4113-8BD4-6ACC777F27BC}" type="parTrans" cxnId="{D3AF8C57-3689-4659-A6C9-85FAE414F40D}">
      <dgm:prSet/>
      <dgm:spPr/>
      <dgm:t>
        <a:bodyPr/>
        <a:lstStyle/>
        <a:p>
          <a:endParaRPr lang="en-US"/>
        </a:p>
      </dgm:t>
    </dgm:pt>
    <dgm:pt modelId="{3394E033-936C-4ED3-9B56-E2D2EF95998E}" type="sibTrans" cxnId="{D3AF8C57-3689-4659-A6C9-85FAE414F40D}">
      <dgm:prSet/>
      <dgm:spPr/>
      <dgm:t>
        <a:bodyPr/>
        <a:lstStyle/>
        <a:p>
          <a:endParaRPr lang="en-US"/>
        </a:p>
      </dgm:t>
    </dgm:pt>
    <dgm:pt modelId="{4E2ABA40-A7D6-47B9-B340-AD380481782B}">
      <dgm:prSet/>
      <dgm:spPr/>
      <dgm:t>
        <a:bodyPr/>
        <a:lstStyle/>
        <a:p>
          <a:r>
            <a:rPr lang="en-GB" noProof="0" dirty="0"/>
            <a:t>list of peers is </a:t>
          </a:r>
          <a:r>
            <a:rPr lang="en-GB" noProof="0" dirty="0" err="1"/>
            <a:t>devided</a:t>
          </a:r>
          <a:r>
            <a:rPr lang="en-GB" noProof="0" dirty="0"/>
            <a:t> into subsets: active view and passive view</a:t>
          </a:r>
        </a:p>
      </dgm:t>
    </dgm:pt>
    <dgm:pt modelId="{FBAAC7AB-746C-4A41-92E2-D8D23135C0EF}" type="parTrans" cxnId="{81574A5F-F52B-4EF4-A12D-8E3E394EF7EF}">
      <dgm:prSet/>
      <dgm:spPr/>
      <dgm:t>
        <a:bodyPr/>
        <a:lstStyle/>
        <a:p>
          <a:endParaRPr lang="en-US"/>
        </a:p>
      </dgm:t>
    </dgm:pt>
    <dgm:pt modelId="{CDC84A69-07A7-4D76-B42F-0428EEB15734}" type="sibTrans" cxnId="{81574A5F-F52B-4EF4-A12D-8E3E394EF7EF}">
      <dgm:prSet/>
      <dgm:spPr/>
      <dgm:t>
        <a:bodyPr/>
        <a:lstStyle/>
        <a:p>
          <a:endParaRPr lang="en-US"/>
        </a:p>
      </dgm:t>
    </dgm:pt>
    <dgm:pt modelId="{578E6D0A-6F7E-4542-A8FD-915A8FE91A1A}">
      <dgm:prSet/>
      <dgm:spPr/>
      <dgm:t>
        <a:bodyPr/>
        <a:lstStyle/>
        <a:p>
          <a:r>
            <a:rPr lang="en-GB" noProof="0" dirty="0"/>
            <a:t>regularly checks active neighbours and replaces from passive list if no longer active</a:t>
          </a:r>
        </a:p>
      </dgm:t>
    </dgm:pt>
    <dgm:pt modelId="{04875343-8A6F-4773-B041-8E95D387329B}" type="parTrans" cxnId="{344A55B0-EB58-40E1-B5B0-4E8F682DDEA8}">
      <dgm:prSet/>
      <dgm:spPr/>
      <dgm:t>
        <a:bodyPr/>
        <a:lstStyle/>
        <a:p>
          <a:endParaRPr lang="en-US"/>
        </a:p>
      </dgm:t>
    </dgm:pt>
    <dgm:pt modelId="{ECCC4DCE-9F30-4D26-B4FE-73C0C4837CA8}" type="sibTrans" cxnId="{344A55B0-EB58-40E1-B5B0-4E8F682DDEA8}">
      <dgm:prSet/>
      <dgm:spPr/>
      <dgm:t>
        <a:bodyPr/>
        <a:lstStyle/>
        <a:p>
          <a:endParaRPr lang="en-US"/>
        </a:p>
      </dgm:t>
    </dgm:pt>
    <dgm:pt modelId="{C90CCC0A-6A32-436E-BC75-472AE660B877}">
      <dgm:prSet/>
      <dgm:spPr/>
      <dgm:t>
        <a:bodyPr/>
        <a:lstStyle/>
        <a:p>
          <a:r>
            <a:rPr lang="en-GB" noProof="0" dirty="0"/>
            <a:t>peers randomly exchange entries from their passive views</a:t>
          </a:r>
        </a:p>
      </dgm:t>
    </dgm:pt>
    <dgm:pt modelId="{DD4310E3-9F55-442B-9DC7-4E6248229E0F}" type="parTrans" cxnId="{4A207945-CD03-4B62-A7BF-83117132B44B}">
      <dgm:prSet/>
      <dgm:spPr/>
      <dgm:t>
        <a:bodyPr/>
        <a:lstStyle/>
        <a:p>
          <a:endParaRPr lang="en-US"/>
        </a:p>
      </dgm:t>
    </dgm:pt>
    <dgm:pt modelId="{0062DEAB-4180-47F8-9D11-6A6C2437CBD2}" type="sibTrans" cxnId="{4A207945-CD03-4B62-A7BF-83117132B44B}">
      <dgm:prSet/>
      <dgm:spPr/>
      <dgm:t>
        <a:bodyPr/>
        <a:lstStyle/>
        <a:p>
          <a:endParaRPr lang="en-US"/>
        </a:p>
      </dgm:t>
    </dgm:pt>
    <dgm:pt modelId="{6E1DD02B-5CCF-40CD-866E-D3C69C6A3E2C}" type="pres">
      <dgm:prSet presAssocID="{CD012ECF-2B94-449D-AF5D-073C28ECFE47}" presName="vert0" presStyleCnt="0">
        <dgm:presLayoutVars>
          <dgm:dir/>
          <dgm:animOne val="branch"/>
          <dgm:animLvl val="lvl"/>
        </dgm:presLayoutVars>
      </dgm:prSet>
      <dgm:spPr/>
    </dgm:pt>
    <dgm:pt modelId="{0CB1DE79-F696-4E9D-BF3C-4264AE019C27}" type="pres">
      <dgm:prSet presAssocID="{DF809DF2-A791-48A9-9DE6-1D1923C2669C}" presName="thickLine" presStyleLbl="alignNode1" presStyleIdx="0" presStyleCnt="4"/>
      <dgm:spPr/>
    </dgm:pt>
    <dgm:pt modelId="{D5FFCA39-E318-43BB-9CE5-13477781519F}" type="pres">
      <dgm:prSet presAssocID="{DF809DF2-A791-48A9-9DE6-1D1923C2669C}" presName="horz1" presStyleCnt="0"/>
      <dgm:spPr/>
    </dgm:pt>
    <dgm:pt modelId="{ED20D4CF-9F75-4B19-9562-315A9342A19F}" type="pres">
      <dgm:prSet presAssocID="{DF809DF2-A791-48A9-9DE6-1D1923C2669C}" presName="tx1" presStyleLbl="revTx" presStyleIdx="0" presStyleCnt="4"/>
      <dgm:spPr/>
    </dgm:pt>
    <dgm:pt modelId="{6AE3BC37-C61A-421B-A98B-8954C57D26D3}" type="pres">
      <dgm:prSet presAssocID="{DF809DF2-A791-48A9-9DE6-1D1923C2669C}" presName="vert1" presStyleCnt="0"/>
      <dgm:spPr/>
    </dgm:pt>
    <dgm:pt modelId="{D9DEE20D-5D44-4CC6-82CC-CA8D32379AF1}" type="pres">
      <dgm:prSet presAssocID="{4E2ABA40-A7D6-47B9-B340-AD380481782B}" presName="thickLine" presStyleLbl="alignNode1" presStyleIdx="1" presStyleCnt="4"/>
      <dgm:spPr/>
    </dgm:pt>
    <dgm:pt modelId="{8B327864-C948-4837-8EA5-77D93B4B4F14}" type="pres">
      <dgm:prSet presAssocID="{4E2ABA40-A7D6-47B9-B340-AD380481782B}" presName="horz1" presStyleCnt="0"/>
      <dgm:spPr/>
    </dgm:pt>
    <dgm:pt modelId="{7A67E103-08E8-412C-B1A5-7B3FBA5711E1}" type="pres">
      <dgm:prSet presAssocID="{4E2ABA40-A7D6-47B9-B340-AD380481782B}" presName="tx1" presStyleLbl="revTx" presStyleIdx="1" presStyleCnt="4"/>
      <dgm:spPr/>
    </dgm:pt>
    <dgm:pt modelId="{E057ACD3-ACFC-4CB2-BAC0-28305D4BBE42}" type="pres">
      <dgm:prSet presAssocID="{4E2ABA40-A7D6-47B9-B340-AD380481782B}" presName="vert1" presStyleCnt="0"/>
      <dgm:spPr/>
    </dgm:pt>
    <dgm:pt modelId="{1BF416C4-107D-4547-A5E4-D7DCC4E6E3D2}" type="pres">
      <dgm:prSet presAssocID="{578E6D0A-6F7E-4542-A8FD-915A8FE91A1A}" presName="thickLine" presStyleLbl="alignNode1" presStyleIdx="2" presStyleCnt="4"/>
      <dgm:spPr/>
    </dgm:pt>
    <dgm:pt modelId="{250B0EB3-BD38-4E35-87A0-1FA883281DD9}" type="pres">
      <dgm:prSet presAssocID="{578E6D0A-6F7E-4542-A8FD-915A8FE91A1A}" presName="horz1" presStyleCnt="0"/>
      <dgm:spPr/>
    </dgm:pt>
    <dgm:pt modelId="{2AF7646D-A802-4E41-A6CF-FF5FEAD5D141}" type="pres">
      <dgm:prSet presAssocID="{578E6D0A-6F7E-4542-A8FD-915A8FE91A1A}" presName="tx1" presStyleLbl="revTx" presStyleIdx="2" presStyleCnt="4"/>
      <dgm:spPr/>
    </dgm:pt>
    <dgm:pt modelId="{04ABD50D-ECCB-4F46-9697-0FFAA2CD2F1B}" type="pres">
      <dgm:prSet presAssocID="{578E6D0A-6F7E-4542-A8FD-915A8FE91A1A}" presName="vert1" presStyleCnt="0"/>
      <dgm:spPr/>
    </dgm:pt>
    <dgm:pt modelId="{31DEE9E0-B3F7-4BAE-B36D-65A38ADEBE04}" type="pres">
      <dgm:prSet presAssocID="{C90CCC0A-6A32-436E-BC75-472AE660B877}" presName="thickLine" presStyleLbl="alignNode1" presStyleIdx="3" presStyleCnt="4"/>
      <dgm:spPr/>
    </dgm:pt>
    <dgm:pt modelId="{E17201B9-0A56-4B83-B2CB-BF1CBB60AF51}" type="pres">
      <dgm:prSet presAssocID="{C90CCC0A-6A32-436E-BC75-472AE660B877}" presName="horz1" presStyleCnt="0"/>
      <dgm:spPr/>
    </dgm:pt>
    <dgm:pt modelId="{EE93F43C-DE13-44F6-9BBF-9C19B532277A}" type="pres">
      <dgm:prSet presAssocID="{C90CCC0A-6A32-436E-BC75-472AE660B877}" presName="tx1" presStyleLbl="revTx" presStyleIdx="3" presStyleCnt="4"/>
      <dgm:spPr/>
    </dgm:pt>
    <dgm:pt modelId="{A106485C-F425-49D6-A0F8-A447B6A64C69}" type="pres">
      <dgm:prSet presAssocID="{C90CCC0A-6A32-436E-BC75-472AE660B877}" presName="vert1" presStyleCnt="0"/>
      <dgm:spPr/>
    </dgm:pt>
  </dgm:ptLst>
  <dgm:cxnLst>
    <dgm:cxn modelId="{31690528-7F1B-4544-AB27-9778C2DB2571}" type="presOf" srcId="{578E6D0A-6F7E-4542-A8FD-915A8FE91A1A}" destId="{2AF7646D-A802-4E41-A6CF-FF5FEAD5D141}" srcOrd="0" destOrd="0" presId="urn:microsoft.com/office/officeart/2008/layout/LinedList"/>
    <dgm:cxn modelId="{81574A5F-F52B-4EF4-A12D-8E3E394EF7EF}" srcId="{CD012ECF-2B94-449D-AF5D-073C28ECFE47}" destId="{4E2ABA40-A7D6-47B9-B340-AD380481782B}" srcOrd="1" destOrd="0" parTransId="{FBAAC7AB-746C-4A41-92E2-D8D23135C0EF}" sibTransId="{CDC84A69-07A7-4D76-B42F-0428EEB15734}"/>
    <dgm:cxn modelId="{4A207945-CD03-4B62-A7BF-83117132B44B}" srcId="{CD012ECF-2B94-449D-AF5D-073C28ECFE47}" destId="{C90CCC0A-6A32-436E-BC75-472AE660B877}" srcOrd="3" destOrd="0" parTransId="{DD4310E3-9F55-442B-9DC7-4E6248229E0F}" sibTransId="{0062DEAB-4180-47F8-9D11-6A6C2437CBD2}"/>
    <dgm:cxn modelId="{50B2E850-CAB9-4D56-A1FB-DDAC5C864BCC}" type="presOf" srcId="{4E2ABA40-A7D6-47B9-B340-AD380481782B}" destId="{7A67E103-08E8-412C-B1A5-7B3FBA5711E1}" srcOrd="0" destOrd="0" presId="urn:microsoft.com/office/officeart/2008/layout/LinedList"/>
    <dgm:cxn modelId="{D3AF8C57-3689-4659-A6C9-85FAE414F40D}" srcId="{CD012ECF-2B94-449D-AF5D-073C28ECFE47}" destId="{DF809DF2-A791-48A9-9DE6-1D1923C2669C}" srcOrd="0" destOrd="0" parTransId="{DC2D09B8-4295-4113-8BD4-6ACC777F27BC}" sibTransId="{3394E033-936C-4ED3-9B56-E2D2EF95998E}"/>
    <dgm:cxn modelId="{344A55B0-EB58-40E1-B5B0-4E8F682DDEA8}" srcId="{CD012ECF-2B94-449D-AF5D-073C28ECFE47}" destId="{578E6D0A-6F7E-4542-A8FD-915A8FE91A1A}" srcOrd="2" destOrd="0" parTransId="{04875343-8A6F-4773-B041-8E95D387329B}" sibTransId="{ECCC4DCE-9F30-4D26-B4FE-73C0C4837CA8}"/>
    <dgm:cxn modelId="{50DCD0CD-A17E-4990-8323-E5B7BE8CC21F}" type="presOf" srcId="{CD012ECF-2B94-449D-AF5D-073C28ECFE47}" destId="{6E1DD02B-5CCF-40CD-866E-D3C69C6A3E2C}" srcOrd="0" destOrd="0" presId="urn:microsoft.com/office/officeart/2008/layout/LinedList"/>
    <dgm:cxn modelId="{16F869D6-C0A6-4CD5-8495-0DB1A6799AF1}" type="presOf" srcId="{C90CCC0A-6A32-436E-BC75-472AE660B877}" destId="{EE93F43C-DE13-44F6-9BBF-9C19B532277A}" srcOrd="0" destOrd="0" presId="urn:microsoft.com/office/officeart/2008/layout/LinedList"/>
    <dgm:cxn modelId="{8C5EF5FB-1046-4012-8E0A-C6CF2892D68A}" type="presOf" srcId="{DF809DF2-A791-48A9-9DE6-1D1923C2669C}" destId="{ED20D4CF-9F75-4B19-9562-315A9342A19F}" srcOrd="0" destOrd="0" presId="urn:microsoft.com/office/officeart/2008/layout/LinedList"/>
    <dgm:cxn modelId="{941A9E0C-3A07-489A-9DB8-EB55429053FE}" type="presParOf" srcId="{6E1DD02B-5CCF-40CD-866E-D3C69C6A3E2C}" destId="{0CB1DE79-F696-4E9D-BF3C-4264AE019C27}" srcOrd="0" destOrd="0" presId="urn:microsoft.com/office/officeart/2008/layout/LinedList"/>
    <dgm:cxn modelId="{ADC00220-3F97-4E65-B065-B3B9AD7E80A1}" type="presParOf" srcId="{6E1DD02B-5CCF-40CD-866E-D3C69C6A3E2C}" destId="{D5FFCA39-E318-43BB-9CE5-13477781519F}" srcOrd="1" destOrd="0" presId="urn:microsoft.com/office/officeart/2008/layout/LinedList"/>
    <dgm:cxn modelId="{A141B07C-7A96-4C0B-A8E5-B6CA236A6353}" type="presParOf" srcId="{D5FFCA39-E318-43BB-9CE5-13477781519F}" destId="{ED20D4CF-9F75-4B19-9562-315A9342A19F}" srcOrd="0" destOrd="0" presId="urn:microsoft.com/office/officeart/2008/layout/LinedList"/>
    <dgm:cxn modelId="{B9265847-94F0-4598-BF27-8AFAA0E3286C}" type="presParOf" srcId="{D5FFCA39-E318-43BB-9CE5-13477781519F}" destId="{6AE3BC37-C61A-421B-A98B-8954C57D26D3}" srcOrd="1" destOrd="0" presId="urn:microsoft.com/office/officeart/2008/layout/LinedList"/>
    <dgm:cxn modelId="{25DF84BF-9E87-4D9D-996D-F18FAD2249AC}" type="presParOf" srcId="{6E1DD02B-5CCF-40CD-866E-D3C69C6A3E2C}" destId="{D9DEE20D-5D44-4CC6-82CC-CA8D32379AF1}" srcOrd="2" destOrd="0" presId="urn:microsoft.com/office/officeart/2008/layout/LinedList"/>
    <dgm:cxn modelId="{803F8018-3C6F-47D2-B02B-52B58A31B74B}" type="presParOf" srcId="{6E1DD02B-5CCF-40CD-866E-D3C69C6A3E2C}" destId="{8B327864-C948-4837-8EA5-77D93B4B4F14}" srcOrd="3" destOrd="0" presId="urn:microsoft.com/office/officeart/2008/layout/LinedList"/>
    <dgm:cxn modelId="{8DEE173A-8541-4E87-B8D7-35B3262ADD71}" type="presParOf" srcId="{8B327864-C948-4837-8EA5-77D93B4B4F14}" destId="{7A67E103-08E8-412C-B1A5-7B3FBA5711E1}" srcOrd="0" destOrd="0" presId="urn:microsoft.com/office/officeart/2008/layout/LinedList"/>
    <dgm:cxn modelId="{4EFF3D1F-14CF-4F8E-B2BE-B4EF26534981}" type="presParOf" srcId="{8B327864-C948-4837-8EA5-77D93B4B4F14}" destId="{E057ACD3-ACFC-4CB2-BAC0-28305D4BBE42}" srcOrd="1" destOrd="0" presId="urn:microsoft.com/office/officeart/2008/layout/LinedList"/>
    <dgm:cxn modelId="{C8CFBC01-0EE2-4DEB-956D-E86BD9FCABE1}" type="presParOf" srcId="{6E1DD02B-5CCF-40CD-866E-D3C69C6A3E2C}" destId="{1BF416C4-107D-4547-A5E4-D7DCC4E6E3D2}" srcOrd="4" destOrd="0" presId="urn:microsoft.com/office/officeart/2008/layout/LinedList"/>
    <dgm:cxn modelId="{A4BCDF18-897F-4E8A-B7B9-641D2275779E}" type="presParOf" srcId="{6E1DD02B-5CCF-40CD-866E-D3C69C6A3E2C}" destId="{250B0EB3-BD38-4E35-87A0-1FA883281DD9}" srcOrd="5" destOrd="0" presId="urn:microsoft.com/office/officeart/2008/layout/LinedList"/>
    <dgm:cxn modelId="{BB43F4A9-5DCA-4C8A-A85D-12C9AFACA432}" type="presParOf" srcId="{250B0EB3-BD38-4E35-87A0-1FA883281DD9}" destId="{2AF7646D-A802-4E41-A6CF-FF5FEAD5D141}" srcOrd="0" destOrd="0" presId="urn:microsoft.com/office/officeart/2008/layout/LinedList"/>
    <dgm:cxn modelId="{08F57E45-13EC-46C9-9D81-6E354590EEDD}" type="presParOf" srcId="{250B0EB3-BD38-4E35-87A0-1FA883281DD9}" destId="{04ABD50D-ECCB-4F46-9697-0FFAA2CD2F1B}" srcOrd="1" destOrd="0" presId="urn:microsoft.com/office/officeart/2008/layout/LinedList"/>
    <dgm:cxn modelId="{B1DB4493-ECFB-41A2-B9B5-8BDA1039385B}" type="presParOf" srcId="{6E1DD02B-5CCF-40CD-866E-D3C69C6A3E2C}" destId="{31DEE9E0-B3F7-4BAE-B36D-65A38ADEBE04}" srcOrd="6" destOrd="0" presId="urn:microsoft.com/office/officeart/2008/layout/LinedList"/>
    <dgm:cxn modelId="{8C3D099E-D1D0-43DD-BA13-752852253947}" type="presParOf" srcId="{6E1DD02B-5CCF-40CD-866E-D3C69C6A3E2C}" destId="{E17201B9-0A56-4B83-B2CB-BF1CBB60AF51}" srcOrd="7" destOrd="0" presId="urn:microsoft.com/office/officeart/2008/layout/LinedList"/>
    <dgm:cxn modelId="{954AA5D0-599F-4798-9597-8FE4C7DFBEB5}" type="presParOf" srcId="{E17201B9-0A56-4B83-B2CB-BF1CBB60AF51}" destId="{EE93F43C-DE13-44F6-9BBF-9C19B532277A}" srcOrd="0" destOrd="0" presId="urn:microsoft.com/office/officeart/2008/layout/LinedList"/>
    <dgm:cxn modelId="{EA943920-D6F4-4BF9-B612-46149DCFAC4E}" type="presParOf" srcId="{E17201B9-0A56-4B83-B2CB-BF1CBB60AF51}" destId="{A106485C-F425-49D6-A0F8-A447B6A64C6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25603C-3703-451A-B468-AF0116FEA51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2E3F9E-ACF2-4843-96C6-EF050954002D}">
      <dgm:prSet/>
      <dgm:spPr/>
      <dgm:t>
        <a:bodyPr/>
        <a:lstStyle/>
        <a:p>
          <a:r>
            <a:rPr lang="en-GB" noProof="0" dirty="0"/>
            <a:t>tow groups of neighbours:</a:t>
          </a:r>
        </a:p>
      </dgm:t>
    </dgm:pt>
    <dgm:pt modelId="{D2E61BAD-028E-4C02-80CF-EA07B3EC87B0}" type="parTrans" cxnId="{3AA180A4-C911-41E4-8C80-A9F5A412C7A9}">
      <dgm:prSet/>
      <dgm:spPr/>
      <dgm:t>
        <a:bodyPr/>
        <a:lstStyle/>
        <a:p>
          <a:endParaRPr lang="en-US"/>
        </a:p>
      </dgm:t>
    </dgm:pt>
    <dgm:pt modelId="{701E5CD3-9BFE-4A5C-8005-52E91369193D}" type="sibTrans" cxnId="{3AA180A4-C911-41E4-8C80-A9F5A412C7A9}">
      <dgm:prSet/>
      <dgm:spPr/>
      <dgm:t>
        <a:bodyPr/>
        <a:lstStyle/>
        <a:p>
          <a:endParaRPr lang="en-US"/>
        </a:p>
      </dgm:t>
    </dgm:pt>
    <dgm:pt modelId="{501A58E9-01B2-4A9A-9910-6C5F4117D643}">
      <dgm:prSet/>
      <dgm:spPr/>
      <dgm:t>
        <a:bodyPr/>
        <a:lstStyle/>
        <a:p>
          <a:r>
            <a:rPr lang="en-GB" b="1" noProof="0" dirty="0">
              <a:solidFill>
                <a:schemeClr val="tx1"/>
              </a:solidFill>
            </a:rPr>
            <a:t>eager peers:</a:t>
          </a:r>
          <a:r>
            <a:rPr lang="en-GB" noProof="0" dirty="0">
              <a:solidFill>
                <a:schemeClr val="tx1"/>
              </a:solidFill>
            </a:rPr>
            <a:t> </a:t>
          </a:r>
          <a:r>
            <a:rPr lang="en-GB" noProof="0" dirty="0"/>
            <a:t>receive message immediately</a:t>
          </a:r>
        </a:p>
      </dgm:t>
    </dgm:pt>
    <dgm:pt modelId="{E0B81024-440E-4694-9F7B-D2E08F71DD63}" type="parTrans" cxnId="{C1F6DEE9-CD63-40AF-96B2-1ADE4579129E}">
      <dgm:prSet/>
      <dgm:spPr/>
      <dgm:t>
        <a:bodyPr/>
        <a:lstStyle/>
        <a:p>
          <a:endParaRPr lang="en-US"/>
        </a:p>
      </dgm:t>
    </dgm:pt>
    <dgm:pt modelId="{4A8EFCA2-0194-467A-9F65-68FC1B766D1F}" type="sibTrans" cxnId="{C1F6DEE9-CD63-40AF-96B2-1ADE4579129E}">
      <dgm:prSet/>
      <dgm:spPr/>
      <dgm:t>
        <a:bodyPr/>
        <a:lstStyle/>
        <a:p>
          <a:endParaRPr lang="en-US"/>
        </a:p>
      </dgm:t>
    </dgm:pt>
    <dgm:pt modelId="{F7DEDED1-A4BA-44DA-9D2A-A82385DC13B8}">
      <dgm:prSet/>
      <dgm:spPr/>
      <dgm:t>
        <a:bodyPr/>
        <a:lstStyle/>
        <a:p>
          <a:r>
            <a:rPr lang="en-GB" b="1" noProof="0" dirty="0">
              <a:solidFill>
                <a:schemeClr val="tx1"/>
              </a:solidFill>
            </a:rPr>
            <a:t>lazy peers: </a:t>
          </a:r>
          <a:r>
            <a:rPr lang="en-GB" noProof="0" dirty="0"/>
            <a:t>only receive hash of the message</a:t>
          </a:r>
        </a:p>
      </dgm:t>
    </dgm:pt>
    <dgm:pt modelId="{8E6FD20E-A36F-467A-9D9B-D78A013B1DE3}" type="parTrans" cxnId="{91AD9FA8-0C8F-441D-8DF0-EB6B966EA704}">
      <dgm:prSet/>
      <dgm:spPr/>
      <dgm:t>
        <a:bodyPr/>
        <a:lstStyle/>
        <a:p>
          <a:endParaRPr lang="en-US"/>
        </a:p>
      </dgm:t>
    </dgm:pt>
    <dgm:pt modelId="{124D8E47-C54C-4C5D-BDCF-2AEBBC183452}" type="sibTrans" cxnId="{91AD9FA8-0C8F-441D-8DF0-EB6B966EA704}">
      <dgm:prSet/>
      <dgm:spPr/>
      <dgm:t>
        <a:bodyPr/>
        <a:lstStyle/>
        <a:p>
          <a:endParaRPr lang="en-US"/>
        </a:p>
      </dgm:t>
    </dgm:pt>
    <dgm:pt modelId="{0DA21604-608F-4423-BAF6-F52F4F2953E2}">
      <dgm:prSet/>
      <dgm:spPr/>
      <dgm:t>
        <a:bodyPr/>
        <a:lstStyle/>
        <a:p>
          <a:r>
            <a:rPr lang="en-GB" noProof="0" dirty="0"/>
            <a:t>advantages:</a:t>
          </a:r>
        </a:p>
      </dgm:t>
    </dgm:pt>
    <dgm:pt modelId="{5706EE27-3FEB-423A-AA70-31705F5EEC9B}" type="parTrans" cxnId="{8A4E0EA2-364D-4C7C-A0C6-FF6FF72501CC}">
      <dgm:prSet/>
      <dgm:spPr/>
      <dgm:t>
        <a:bodyPr/>
        <a:lstStyle/>
        <a:p>
          <a:endParaRPr lang="en-US"/>
        </a:p>
      </dgm:t>
    </dgm:pt>
    <dgm:pt modelId="{24E97AB7-5E54-4652-8B6D-2A574832AF1A}" type="sibTrans" cxnId="{8A4E0EA2-364D-4C7C-A0C6-FF6FF72501CC}">
      <dgm:prSet/>
      <dgm:spPr/>
      <dgm:t>
        <a:bodyPr/>
        <a:lstStyle/>
        <a:p>
          <a:endParaRPr lang="en-US"/>
        </a:p>
      </dgm:t>
    </dgm:pt>
    <dgm:pt modelId="{34448CCC-2129-4E25-8815-D21A9015C073}">
      <dgm:prSet/>
      <dgm:spPr/>
      <dgm:t>
        <a:bodyPr/>
        <a:lstStyle/>
        <a:p>
          <a:r>
            <a:rPr lang="en-GB" b="1" noProof="0" dirty="0">
              <a:solidFill>
                <a:schemeClr val="tx1"/>
              </a:solidFill>
            </a:rPr>
            <a:t>high reliability: </a:t>
          </a:r>
          <a:r>
            <a:rPr lang="en-GB" noProof="0" dirty="0"/>
            <a:t>every node ultimately receives every message</a:t>
          </a:r>
        </a:p>
      </dgm:t>
    </dgm:pt>
    <dgm:pt modelId="{AB9E2C23-1162-4308-A8C6-9D52D3D632D1}" type="parTrans" cxnId="{00F2181A-9763-4D1D-85EB-8B5EBADD2D59}">
      <dgm:prSet/>
      <dgm:spPr/>
      <dgm:t>
        <a:bodyPr/>
        <a:lstStyle/>
        <a:p>
          <a:endParaRPr lang="en-US"/>
        </a:p>
      </dgm:t>
    </dgm:pt>
    <dgm:pt modelId="{E3FABFB7-905D-4019-A3FA-348919414008}" type="sibTrans" cxnId="{00F2181A-9763-4D1D-85EB-8B5EBADD2D59}">
      <dgm:prSet/>
      <dgm:spPr/>
      <dgm:t>
        <a:bodyPr/>
        <a:lstStyle/>
        <a:p>
          <a:endParaRPr lang="en-US"/>
        </a:p>
      </dgm:t>
    </dgm:pt>
    <dgm:pt modelId="{9B94DD44-70E0-4C23-BFA0-45AD21BFCBAE}">
      <dgm:prSet/>
      <dgm:spPr/>
      <dgm:t>
        <a:bodyPr/>
        <a:lstStyle/>
        <a:p>
          <a:r>
            <a:rPr lang="en-GB" b="1" noProof="0" dirty="0">
              <a:solidFill>
                <a:schemeClr val="tx1"/>
              </a:solidFill>
            </a:rPr>
            <a:t>efficiency:</a:t>
          </a:r>
          <a:r>
            <a:rPr lang="en-GB" noProof="0" dirty="0"/>
            <a:t> only a few messages contain the full content</a:t>
          </a:r>
        </a:p>
      </dgm:t>
    </dgm:pt>
    <dgm:pt modelId="{780ACAB9-DC19-4DB6-8B76-A4394B584B1E}" type="parTrans" cxnId="{132FD430-6D0F-460C-9CE4-77EC3911FEFB}">
      <dgm:prSet/>
      <dgm:spPr/>
      <dgm:t>
        <a:bodyPr/>
        <a:lstStyle/>
        <a:p>
          <a:endParaRPr lang="en-US"/>
        </a:p>
      </dgm:t>
    </dgm:pt>
    <dgm:pt modelId="{CBE6DE47-27B6-4ABF-8523-CA116FEF2262}" type="sibTrans" cxnId="{132FD430-6D0F-460C-9CE4-77EC3911FEFB}">
      <dgm:prSet/>
      <dgm:spPr/>
      <dgm:t>
        <a:bodyPr/>
        <a:lstStyle/>
        <a:p>
          <a:endParaRPr lang="en-US"/>
        </a:p>
      </dgm:t>
    </dgm:pt>
    <dgm:pt modelId="{B2D6C510-208A-46A6-A5AB-65C701FD167B}">
      <dgm:prSet/>
      <dgm:spPr/>
      <dgm:t>
        <a:bodyPr/>
        <a:lstStyle/>
        <a:p>
          <a:r>
            <a:rPr lang="en-GB" b="1" noProof="0" dirty="0">
              <a:solidFill>
                <a:schemeClr val="tx1"/>
              </a:solidFill>
            </a:rPr>
            <a:t>self-optimising:</a:t>
          </a:r>
          <a:r>
            <a:rPr lang="en-GB" noProof="0" dirty="0">
              <a:solidFill>
                <a:schemeClr val="tx1"/>
              </a:solidFill>
            </a:rPr>
            <a:t> </a:t>
          </a:r>
          <a:r>
            <a:rPr lang="en-GB" noProof="0" dirty="0"/>
            <a:t>paths with low latency are used preferentially</a:t>
          </a:r>
        </a:p>
      </dgm:t>
    </dgm:pt>
    <dgm:pt modelId="{04DCBA35-FD9F-414E-A066-E2E391474A08}" type="parTrans" cxnId="{2A071CC4-FB93-4D4F-BAD7-73B33CD31DCF}">
      <dgm:prSet/>
      <dgm:spPr/>
      <dgm:t>
        <a:bodyPr/>
        <a:lstStyle/>
        <a:p>
          <a:endParaRPr lang="en-US"/>
        </a:p>
      </dgm:t>
    </dgm:pt>
    <dgm:pt modelId="{53A37E6E-D22F-4706-B46E-422D1401E41D}" type="sibTrans" cxnId="{2A071CC4-FB93-4D4F-BAD7-73B33CD31DCF}">
      <dgm:prSet/>
      <dgm:spPr/>
      <dgm:t>
        <a:bodyPr/>
        <a:lstStyle/>
        <a:p>
          <a:endParaRPr lang="en-US"/>
        </a:p>
      </dgm:t>
    </dgm:pt>
    <dgm:pt modelId="{8D4E065F-DDBD-4398-8B4B-1022E47D7AAA}" type="pres">
      <dgm:prSet presAssocID="{C725603C-3703-451A-B468-AF0116FEA510}" presName="linear" presStyleCnt="0">
        <dgm:presLayoutVars>
          <dgm:dir/>
          <dgm:animLvl val="lvl"/>
          <dgm:resizeHandles val="exact"/>
        </dgm:presLayoutVars>
      </dgm:prSet>
      <dgm:spPr/>
    </dgm:pt>
    <dgm:pt modelId="{09BEE4B4-9F4C-4889-887D-04313E7DC5B9}" type="pres">
      <dgm:prSet presAssocID="{A22E3F9E-ACF2-4843-96C6-EF050954002D}" presName="parentLin" presStyleCnt="0"/>
      <dgm:spPr/>
    </dgm:pt>
    <dgm:pt modelId="{E3093BB3-5786-4894-BB76-A54C94E54061}" type="pres">
      <dgm:prSet presAssocID="{A22E3F9E-ACF2-4843-96C6-EF050954002D}" presName="parentLeftMargin" presStyleLbl="node1" presStyleIdx="0" presStyleCnt="2"/>
      <dgm:spPr/>
    </dgm:pt>
    <dgm:pt modelId="{A03BAE0B-6C95-41A9-A469-0DC6D33BF839}" type="pres">
      <dgm:prSet presAssocID="{A22E3F9E-ACF2-4843-96C6-EF050954002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8AF45C3-73E5-4AF1-928A-CB13DC6D6E83}" type="pres">
      <dgm:prSet presAssocID="{A22E3F9E-ACF2-4843-96C6-EF050954002D}" presName="negativeSpace" presStyleCnt="0"/>
      <dgm:spPr/>
    </dgm:pt>
    <dgm:pt modelId="{D8D6CAF5-E105-4FEA-8997-8162DC4912D1}" type="pres">
      <dgm:prSet presAssocID="{A22E3F9E-ACF2-4843-96C6-EF050954002D}" presName="childText" presStyleLbl="conFgAcc1" presStyleIdx="0" presStyleCnt="2">
        <dgm:presLayoutVars>
          <dgm:bulletEnabled val="1"/>
        </dgm:presLayoutVars>
      </dgm:prSet>
      <dgm:spPr/>
    </dgm:pt>
    <dgm:pt modelId="{A4A35AD3-C731-4011-B53D-A62B6C2396BF}" type="pres">
      <dgm:prSet presAssocID="{701E5CD3-9BFE-4A5C-8005-52E91369193D}" presName="spaceBetweenRectangles" presStyleCnt="0"/>
      <dgm:spPr/>
    </dgm:pt>
    <dgm:pt modelId="{7D848880-C10F-4A36-B46D-71BF5562ACB2}" type="pres">
      <dgm:prSet presAssocID="{0DA21604-608F-4423-BAF6-F52F4F2953E2}" presName="parentLin" presStyleCnt="0"/>
      <dgm:spPr/>
    </dgm:pt>
    <dgm:pt modelId="{1D60885A-F6C6-40CC-AEC5-306B5434463B}" type="pres">
      <dgm:prSet presAssocID="{0DA21604-608F-4423-BAF6-F52F4F2953E2}" presName="parentLeftMargin" presStyleLbl="node1" presStyleIdx="0" presStyleCnt="2"/>
      <dgm:spPr/>
    </dgm:pt>
    <dgm:pt modelId="{2FC50667-8A22-4FD8-B782-9BB2F0F54C66}" type="pres">
      <dgm:prSet presAssocID="{0DA21604-608F-4423-BAF6-F52F4F2953E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2346670-44F2-44C8-8860-FCA5C84F54CF}" type="pres">
      <dgm:prSet presAssocID="{0DA21604-608F-4423-BAF6-F52F4F2953E2}" presName="negativeSpace" presStyleCnt="0"/>
      <dgm:spPr/>
    </dgm:pt>
    <dgm:pt modelId="{2657F6B5-7A03-418D-9E28-3D668979C1FD}" type="pres">
      <dgm:prSet presAssocID="{0DA21604-608F-4423-BAF6-F52F4F2953E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0F2181A-9763-4D1D-85EB-8B5EBADD2D59}" srcId="{0DA21604-608F-4423-BAF6-F52F4F2953E2}" destId="{34448CCC-2129-4E25-8815-D21A9015C073}" srcOrd="0" destOrd="0" parTransId="{AB9E2C23-1162-4308-A8C6-9D52D3D632D1}" sibTransId="{E3FABFB7-905D-4019-A3FA-348919414008}"/>
    <dgm:cxn modelId="{B32A6420-2FE5-412A-8A67-2E1F133FB227}" type="presOf" srcId="{F7DEDED1-A4BA-44DA-9D2A-A82385DC13B8}" destId="{D8D6CAF5-E105-4FEA-8997-8162DC4912D1}" srcOrd="0" destOrd="1" presId="urn:microsoft.com/office/officeart/2005/8/layout/list1"/>
    <dgm:cxn modelId="{132FD430-6D0F-460C-9CE4-77EC3911FEFB}" srcId="{0DA21604-608F-4423-BAF6-F52F4F2953E2}" destId="{9B94DD44-70E0-4C23-BFA0-45AD21BFCBAE}" srcOrd="1" destOrd="0" parTransId="{780ACAB9-DC19-4DB6-8B76-A4394B584B1E}" sibTransId="{CBE6DE47-27B6-4ABF-8523-CA116FEF2262}"/>
    <dgm:cxn modelId="{97DA883D-45D9-4F80-AC55-37695B2A1914}" type="presOf" srcId="{C725603C-3703-451A-B468-AF0116FEA510}" destId="{8D4E065F-DDBD-4398-8B4B-1022E47D7AAA}" srcOrd="0" destOrd="0" presId="urn:microsoft.com/office/officeart/2005/8/layout/list1"/>
    <dgm:cxn modelId="{065BD769-25DD-49A8-B701-F312014C1977}" type="presOf" srcId="{501A58E9-01B2-4A9A-9910-6C5F4117D643}" destId="{D8D6CAF5-E105-4FEA-8997-8162DC4912D1}" srcOrd="0" destOrd="0" presId="urn:microsoft.com/office/officeart/2005/8/layout/list1"/>
    <dgm:cxn modelId="{00389F4B-8CE5-4596-AA46-E82826580081}" type="presOf" srcId="{34448CCC-2129-4E25-8815-D21A9015C073}" destId="{2657F6B5-7A03-418D-9E28-3D668979C1FD}" srcOrd="0" destOrd="0" presId="urn:microsoft.com/office/officeart/2005/8/layout/list1"/>
    <dgm:cxn modelId="{EDB97A82-CB9B-4142-BFDE-A9E82B160F81}" type="presOf" srcId="{0DA21604-608F-4423-BAF6-F52F4F2953E2}" destId="{1D60885A-F6C6-40CC-AEC5-306B5434463B}" srcOrd="0" destOrd="0" presId="urn:microsoft.com/office/officeart/2005/8/layout/list1"/>
    <dgm:cxn modelId="{203FAA96-1166-4EFC-AED7-C1C7EFB4A28B}" type="presOf" srcId="{A22E3F9E-ACF2-4843-96C6-EF050954002D}" destId="{E3093BB3-5786-4894-BB76-A54C94E54061}" srcOrd="0" destOrd="0" presId="urn:microsoft.com/office/officeart/2005/8/layout/list1"/>
    <dgm:cxn modelId="{8A4E0EA2-364D-4C7C-A0C6-FF6FF72501CC}" srcId="{C725603C-3703-451A-B468-AF0116FEA510}" destId="{0DA21604-608F-4423-BAF6-F52F4F2953E2}" srcOrd="1" destOrd="0" parTransId="{5706EE27-3FEB-423A-AA70-31705F5EEC9B}" sibTransId="{24E97AB7-5E54-4652-8B6D-2A574832AF1A}"/>
    <dgm:cxn modelId="{3AA180A4-C911-41E4-8C80-A9F5A412C7A9}" srcId="{C725603C-3703-451A-B468-AF0116FEA510}" destId="{A22E3F9E-ACF2-4843-96C6-EF050954002D}" srcOrd="0" destOrd="0" parTransId="{D2E61BAD-028E-4C02-80CF-EA07B3EC87B0}" sibTransId="{701E5CD3-9BFE-4A5C-8005-52E91369193D}"/>
    <dgm:cxn modelId="{91AD9FA8-0C8F-441D-8DF0-EB6B966EA704}" srcId="{A22E3F9E-ACF2-4843-96C6-EF050954002D}" destId="{F7DEDED1-A4BA-44DA-9D2A-A82385DC13B8}" srcOrd="1" destOrd="0" parTransId="{8E6FD20E-A36F-467A-9D9B-D78A013B1DE3}" sibTransId="{124D8E47-C54C-4C5D-BDCF-2AEBBC183452}"/>
    <dgm:cxn modelId="{16690BC0-1096-4F07-BEE4-BFD8F4F83B89}" type="presOf" srcId="{9B94DD44-70E0-4C23-BFA0-45AD21BFCBAE}" destId="{2657F6B5-7A03-418D-9E28-3D668979C1FD}" srcOrd="0" destOrd="1" presId="urn:microsoft.com/office/officeart/2005/8/layout/list1"/>
    <dgm:cxn modelId="{2A071CC4-FB93-4D4F-BAD7-73B33CD31DCF}" srcId="{0DA21604-608F-4423-BAF6-F52F4F2953E2}" destId="{B2D6C510-208A-46A6-A5AB-65C701FD167B}" srcOrd="2" destOrd="0" parTransId="{04DCBA35-FD9F-414E-A066-E2E391474A08}" sibTransId="{53A37E6E-D22F-4706-B46E-422D1401E41D}"/>
    <dgm:cxn modelId="{C9B62FC8-281A-4672-A829-18A85ADD6411}" type="presOf" srcId="{B2D6C510-208A-46A6-A5AB-65C701FD167B}" destId="{2657F6B5-7A03-418D-9E28-3D668979C1FD}" srcOrd="0" destOrd="2" presId="urn:microsoft.com/office/officeart/2005/8/layout/list1"/>
    <dgm:cxn modelId="{633399C9-1D0C-4E83-B590-8AA095861F3B}" type="presOf" srcId="{A22E3F9E-ACF2-4843-96C6-EF050954002D}" destId="{A03BAE0B-6C95-41A9-A469-0DC6D33BF839}" srcOrd="1" destOrd="0" presId="urn:microsoft.com/office/officeart/2005/8/layout/list1"/>
    <dgm:cxn modelId="{C1F6DEE9-CD63-40AF-96B2-1ADE4579129E}" srcId="{A22E3F9E-ACF2-4843-96C6-EF050954002D}" destId="{501A58E9-01B2-4A9A-9910-6C5F4117D643}" srcOrd="0" destOrd="0" parTransId="{E0B81024-440E-4694-9F7B-D2E08F71DD63}" sibTransId="{4A8EFCA2-0194-467A-9F65-68FC1B766D1F}"/>
    <dgm:cxn modelId="{EA1619FB-9114-4579-BACF-0B7F926B59C6}" type="presOf" srcId="{0DA21604-608F-4423-BAF6-F52F4F2953E2}" destId="{2FC50667-8A22-4FD8-B782-9BB2F0F54C66}" srcOrd="1" destOrd="0" presId="urn:microsoft.com/office/officeart/2005/8/layout/list1"/>
    <dgm:cxn modelId="{0DB89709-FD9C-49C3-9EF6-D0400A2CCFAE}" type="presParOf" srcId="{8D4E065F-DDBD-4398-8B4B-1022E47D7AAA}" destId="{09BEE4B4-9F4C-4889-887D-04313E7DC5B9}" srcOrd="0" destOrd="0" presId="urn:microsoft.com/office/officeart/2005/8/layout/list1"/>
    <dgm:cxn modelId="{5081FA3B-3830-4DDF-9482-43FEE310CB41}" type="presParOf" srcId="{09BEE4B4-9F4C-4889-887D-04313E7DC5B9}" destId="{E3093BB3-5786-4894-BB76-A54C94E54061}" srcOrd="0" destOrd="0" presId="urn:microsoft.com/office/officeart/2005/8/layout/list1"/>
    <dgm:cxn modelId="{9D7CBB8F-31DA-4951-A9FB-19EF0B72DD27}" type="presParOf" srcId="{09BEE4B4-9F4C-4889-887D-04313E7DC5B9}" destId="{A03BAE0B-6C95-41A9-A469-0DC6D33BF839}" srcOrd="1" destOrd="0" presId="urn:microsoft.com/office/officeart/2005/8/layout/list1"/>
    <dgm:cxn modelId="{953BBDB9-510F-4D92-A8EA-6DAE3EE587FB}" type="presParOf" srcId="{8D4E065F-DDBD-4398-8B4B-1022E47D7AAA}" destId="{48AF45C3-73E5-4AF1-928A-CB13DC6D6E83}" srcOrd="1" destOrd="0" presId="urn:microsoft.com/office/officeart/2005/8/layout/list1"/>
    <dgm:cxn modelId="{C8C9C007-FCB8-4903-86E6-1D2F0BE9798A}" type="presParOf" srcId="{8D4E065F-DDBD-4398-8B4B-1022E47D7AAA}" destId="{D8D6CAF5-E105-4FEA-8997-8162DC4912D1}" srcOrd="2" destOrd="0" presId="urn:microsoft.com/office/officeart/2005/8/layout/list1"/>
    <dgm:cxn modelId="{B5863CBE-E9EC-4C93-B569-0152318358D5}" type="presParOf" srcId="{8D4E065F-DDBD-4398-8B4B-1022E47D7AAA}" destId="{A4A35AD3-C731-4011-B53D-A62B6C2396BF}" srcOrd="3" destOrd="0" presId="urn:microsoft.com/office/officeart/2005/8/layout/list1"/>
    <dgm:cxn modelId="{A3AC021B-C008-4616-BF6D-96FA4DAE8ABC}" type="presParOf" srcId="{8D4E065F-DDBD-4398-8B4B-1022E47D7AAA}" destId="{7D848880-C10F-4A36-B46D-71BF5562ACB2}" srcOrd="4" destOrd="0" presId="urn:microsoft.com/office/officeart/2005/8/layout/list1"/>
    <dgm:cxn modelId="{3081098F-6456-4F9E-82F5-2A328BC66C8B}" type="presParOf" srcId="{7D848880-C10F-4A36-B46D-71BF5562ACB2}" destId="{1D60885A-F6C6-40CC-AEC5-306B5434463B}" srcOrd="0" destOrd="0" presId="urn:microsoft.com/office/officeart/2005/8/layout/list1"/>
    <dgm:cxn modelId="{1AE366A6-67F8-4946-BAC5-D3ED6B2F5D22}" type="presParOf" srcId="{7D848880-C10F-4A36-B46D-71BF5562ACB2}" destId="{2FC50667-8A22-4FD8-B782-9BB2F0F54C66}" srcOrd="1" destOrd="0" presId="urn:microsoft.com/office/officeart/2005/8/layout/list1"/>
    <dgm:cxn modelId="{C9F2A9B6-F9EF-425A-BCEB-DE97FB87B26E}" type="presParOf" srcId="{8D4E065F-DDBD-4398-8B4B-1022E47D7AAA}" destId="{22346670-44F2-44C8-8860-FCA5C84F54CF}" srcOrd="5" destOrd="0" presId="urn:microsoft.com/office/officeart/2005/8/layout/list1"/>
    <dgm:cxn modelId="{1D573D23-64EB-4B93-9ACC-3EAD5F72BCDC}" type="presParOf" srcId="{8D4E065F-DDBD-4398-8B4B-1022E47D7AAA}" destId="{2657F6B5-7A03-418D-9E28-3D668979C1F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25603C-3703-451A-B468-AF0116FEA51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2E3F9E-ACF2-4843-96C6-EF050954002D}">
      <dgm:prSet/>
      <dgm:spPr/>
      <dgm:t>
        <a:bodyPr/>
        <a:lstStyle/>
        <a:p>
          <a:r>
            <a:rPr lang="en-GB" noProof="0" dirty="0"/>
            <a:t>Direct</a:t>
          </a:r>
        </a:p>
      </dgm:t>
    </dgm:pt>
    <dgm:pt modelId="{D2E61BAD-028E-4C02-80CF-EA07B3EC87B0}" type="parTrans" cxnId="{3AA180A4-C911-41E4-8C80-A9F5A412C7A9}">
      <dgm:prSet/>
      <dgm:spPr/>
      <dgm:t>
        <a:bodyPr/>
        <a:lstStyle/>
        <a:p>
          <a:endParaRPr lang="en-US"/>
        </a:p>
      </dgm:t>
    </dgm:pt>
    <dgm:pt modelId="{701E5CD3-9BFE-4A5C-8005-52E91369193D}" type="sibTrans" cxnId="{3AA180A4-C911-41E4-8C80-A9F5A412C7A9}">
      <dgm:prSet/>
      <dgm:spPr/>
      <dgm:t>
        <a:bodyPr/>
        <a:lstStyle/>
        <a:p>
          <a:endParaRPr lang="en-US"/>
        </a:p>
      </dgm:t>
    </dgm:pt>
    <dgm:pt modelId="{501A58E9-01B2-4A9A-9910-6C5F4117D643}">
      <dgm:prSet/>
      <dgm:spPr/>
      <dgm:t>
        <a:bodyPr/>
        <a:lstStyle/>
        <a:p>
          <a:r>
            <a:rPr lang="en-GB" noProof="0" dirty="0"/>
            <a:t>resolving </a:t>
          </a:r>
          <a:r>
            <a:rPr lang="en-GB" noProof="0" dirty="0" err="1"/>
            <a:t>NodeIDs</a:t>
          </a:r>
          <a:r>
            <a:rPr lang="en-GB" noProof="0" dirty="0"/>
            <a:t> to </a:t>
          </a:r>
          <a:r>
            <a:rPr lang="en-GB" noProof="0" dirty="0" err="1"/>
            <a:t>IP:port</a:t>
          </a:r>
          <a:r>
            <a:rPr lang="en-GB" noProof="0" dirty="0"/>
            <a:t> via </a:t>
          </a:r>
          <a:r>
            <a:rPr lang="en-GB" b="1" noProof="0" dirty="0" err="1"/>
            <a:t>mDNS</a:t>
          </a:r>
          <a:endParaRPr lang="en-GB" b="1" noProof="0" dirty="0"/>
        </a:p>
      </dgm:t>
    </dgm:pt>
    <dgm:pt modelId="{E0B81024-440E-4694-9F7B-D2E08F71DD63}" type="parTrans" cxnId="{C1F6DEE9-CD63-40AF-96B2-1ADE4579129E}">
      <dgm:prSet/>
      <dgm:spPr/>
      <dgm:t>
        <a:bodyPr/>
        <a:lstStyle/>
        <a:p>
          <a:endParaRPr lang="en-US"/>
        </a:p>
      </dgm:t>
    </dgm:pt>
    <dgm:pt modelId="{4A8EFCA2-0194-467A-9F65-68FC1B766D1F}" type="sibTrans" cxnId="{C1F6DEE9-CD63-40AF-96B2-1ADE4579129E}">
      <dgm:prSet/>
      <dgm:spPr/>
      <dgm:t>
        <a:bodyPr/>
        <a:lstStyle/>
        <a:p>
          <a:endParaRPr lang="en-US"/>
        </a:p>
      </dgm:t>
    </dgm:pt>
    <dgm:pt modelId="{0DA21604-608F-4423-BAF6-F52F4F2953E2}">
      <dgm:prSet/>
      <dgm:spPr/>
      <dgm:t>
        <a:bodyPr/>
        <a:lstStyle/>
        <a:p>
          <a:r>
            <a:rPr lang="en-GB" noProof="0" dirty="0"/>
            <a:t>Relay</a:t>
          </a:r>
        </a:p>
      </dgm:t>
    </dgm:pt>
    <dgm:pt modelId="{5706EE27-3FEB-423A-AA70-31705F5EEC9B}" type="parTrans" cxnId="{8A4E0EA2-364D-4C7C-A0C6-FF6FF72501CC}">
      <dgm:prSet/>
      <dgm:spPr/>
      <dgm:t>
        <a:bodyPr/>
        <a:lstStyle/>
        <a:p>
          <a:endParaRPr lang="en-US"/>
        </a:p>
      </dgm:t>
    </dgm:pt>
    <dgm:pt modelId="{24E97AB7-5E54-4652-8B6D-2A574832AF1A}" type="sibTrans" cxnId="{8A4E0EA2-364D-4C7C-A0C6-FF6FF72501CC}">
      <dgm:prSet/>
      <dgm:spPr/>
      <dgm:t>
        <a:bodyPr/>
        <a:lstStyle/>
        <a:p>
          <a:endParaRPr lang="en-US"/>
        </a:p>
      </dgm:t>
    </dgm:pt>
    <dgm:pt modelId="{34448CCC-2129-4E25-8815-D21A9015C073}">
      <dgm:prSet/>
      <dgm:spPr/>
      <dgm:t>
        <a:bodyPr/>
        <a:lstStyle/>
        <a:p>
          <a:r>
            <a:rPr lang="en-GB" noProof="0" dirty="0"/>
            <a:t>resolving </a:t>
          </a:r>
          <a:r>
            <a:rPr lang="en-GB" noProof="0" dirty="0" err="1"/>
            <a:t>NodeIDs</a:t>
          </a:r>
          <a:r>
            <a:rPr lang="en-GB" noProof="0" dirty="0"/>
            <a:t> to </a:t>
          </a:r>
          <a:r>
            <a:rPr lang="en-GB" noProof="0" dirty="0" err="1"/>
            <a:t>IP:port</a:t>
          </a:r>
          <a:r>
            <a:rPr lang="en-GB" noProof="0" dirty="0"/>
            <a:t> via </a:t>
          </a:r>
          <a:r>
            <a:rPr lang="en-GB" noProof="0" dirty="0" err="1"/>
            <a:t>iroh’s</a:t>
          </a:r>
          <a:r>
            <a:rPr lang="en-GB" noProof="0" dirty="0"/>
            <a:t> public </a:t>
          </a:r>
          <a:r>
            <a:rPr lang="en-GB" b="1" noProof="0" dirty="0"/>
            <a:t>n0 DNS server</a:t>
          </a:r>
        </a:p>
      </dgm:t>
    </dgm:pt>
    <dgm:pt modelId="{AB9E2C23-1162-4308-A8C6-9D52D3D632D1}" type="parTrans" cxnId="{00F2181A-9763-4D1D-85EB-8B5EBADD2D59}">
      <dgm:prSet/>
      <dgm:spPr/>
      <dgm:t>
        <a:bodyPr/>
        <a:lstStyle/>
        <a:p>
          <a:endParaRPr lang="en-US"/>
        </a:p>
      </dgm:t>
    </dgm:pt>
    <dgm:pt modelId="{E3FABFB7-905D-4019-A3FA-348919414008}" type="sibTrans" cxnId="{00F2181A-9763-4D1D-85EB-8B5EBADD2D59}">
      <dgm:prSet/>
      <dgm:spPr/>
      <dgm:t>
        <a:bodyPr/>
        <a:lstStyle/>
        <a:p>
          <a:endParaRPr lang="en-US"/>
        </a:p>
      </dgm:t>
    </dgm:pt>
    <dgm:pt modelId="{6EA0AFD2-E6B3-40C3-BA01-818317AD1118}">
      <dgm:prSet/>
      <dgm:spPr/>
      <dgm:t>
        <a:bodyPr/>
        <a:lstStyle/>
        <a:p>
          <a:r>
            <a:rPr lang="en-GB" noProof="0" dirty="0"/>
            <a:t>useful in small local networks</a:t>
          </a:r>
        </a:p>
      </dgm:t>
    </dgm:pt>
    <dgm:pt modelId="{2FF8D0C0-916C-41DE-A7FA-8F09F5471E86}" type="parTrans" cxnId="{E6B03B27-A519-46D0-827D-2523DBBED4A5}">
      <dgm:prSet/>
      <dgm:spPr/>
      <dgm:t>
        <a:bodyPr/>
        <a:lstStyle/>
        <a:p>
          <a:endParaRPr lang="de-CH"/>
        </a:p>
      </dgm:t>
    </dgm:pt>
    <dgm:pt modelId="{A379E406-A16E-4A01-812F-13FF0B0EF298}" type="sibTrans" cxnId="{E6B03B27-A519-46D0-827D-2523DBBED4A5}">
      <dgm:prSet/>
      <dgm:spPr/>
      <dgm:t>
        <a:bodyPr/>
        <a:lstStyle/>
        <a:p>
          <a:endParaRPr lang="de-CH"/>
        </a:p>
      </dgm:t>
    </dgm:pt>
    <dgm:pt modelId="{0D9CCDDB-AF9B-4F5C-AB17-727F491C1652}">
      <dgm:prSet/>
      <dgm:spPr/>
      <dgm:t>
        <a:bodyPr/>
        <a:lstStyle/>
        <a:p>
          <a:r>
            <a:rPr lang="en-GB" noProof="0" dirty="0"/>
            <a:t>more reliable peer discovery in big and non-local networks</a:t>
          </a:r>
        </a:p>
      </dgm:t>
    </dgm:pt>
    <dgm:pt modelId="{AC52EE59-1BC1-435B-97D3-7180350C9C62}" type="parTrans" cxnId="{E4FE327D-CE49-4602-95D3-7D2109AC14AF}">
      <dgm:prSet/>
      <dgm:spPr/>
      <dgm:t>
        <a:bodyPr/>
        <a:lstStyle/>
        <a:p>
          <a:endParaRPr lang="de-CH"/>
        </a:p>
      </dgm:t>
    </dgm:pt>
    <dgm:pt modelId="{F56710CF-6254-4423-AF39-ADAD03266EE7}" type="sibTrans" cxnId="{E4FE327D-CE49-4602-95D3-7D2109AC14AF}">
      <dgm:prSet/>
      <dgm:spPr/>
      <dgm:t>
        <a:bodyPr/>
        <a:lstStyle/>
        <a:p>
          <a:endParaRPr lang="de-CH"/>
        </a:p>
      </dgm:t>
    </dgm:pt>
    <dgm:pt modelId="{963DF3E4-E946-44BA-842E-7F189BF53164}">
      <dgm:prSet/>
      <dgm:spPr/>
      <dgm:t>
        <a:bodyPr/>
        <a:lstStyle/>
        <a:p>
          <a:r>
            <a:rPr lang="en-GB" noProof="0" dirty="0" err="1"/>
            <a:t>subscribe_and_join</a:t>
          </a:r>
          <a:r>
            <a:rPr lang="en-GB" noProof="0" dirty="0"/>
            <a:t>(</a:t>
          </a:r>
          <a:r>
            <a:rPr lang="en-GB" noProof="0" dirty="0" err="1"/>
            <a:t>TopicId</a:t>
          </a:r>
          <a:r>
            <a:rPr lang="en-GB" noProof="0" dirty="0"/>
            <a:t>, Vec&lt;</a:t>
          </a:r>
          <a:r>
            <a:rPr lang="en-GB" noProof="0" dirty="0" err="1"/>
            <a:t>NodeId</a:t>
          </a:r>
          <a:r>
            <a:rPr lang="en-GB" noProof="0" dirty="0"/>
            <a:t>&gt;)</a:t>
          </a:r>
        </a:p>
      </dgm:t>
    </dgm:pt>
    <dgm:pt modelId="{CC69D2DA-49CF-4385-A95E-9D58CE5BEB3A}" type="parTrans" cxnId="{802111DB-118C-4C4F-9DD9-EDFCA8A167E5}">
      <dgm:prSet/>
      <dgm:spPr/>
      <dgm:t>
        <a:bodyPr/>
        <a:lstStyle/>
        <a:p>
          <a:endParaRPr lang="de-CH"/>
        </a:p>
      </dgm:t>
    </dgm:pt>
    <dgm:pt modelId="{BD65C8A0-8982-476F-8899-8C7A660FC5A3}" type="sibTrans" cxnId="{802111DB-118C-4C4F-9DD9-EDFCA8A167E5}">
      <dgm:prSet/>
      <dgm:spPr/>
      <dgm:t>
        <a:bodyPr/>
        <a:lstStyle/>
        <a:p>
          <a:endParaRPr lang="de-CH"/>
        </a:p>
      </dgm:t>
    </dgm:pt>
    <dgm:pt modelId="{4EEC1631-60BF-495C-84F5-F879E0678623}">
      <dgm:prSet/>
      <dgm:spPr/>
      <dgm:t>
        <a:bodyPr/>
        <a:lstStyle/>
        <a:p>
          <a:r>
            <a:rPr lang="en-GB" noProof="0" dirty="0"/>
            <a:t>method to join a gossip topic</a:t>
          </a:r>
        </a:p>
      </dgm:t>
    </dgm:pt>
    <dgm:pt modelId="{29511677-5080-4F14-BDA5-5F22FD1DCB60}" type="parTrans" cxnId="{84B0719B-D955-4709-9C66-8B130D497D94}">
      <dgm:prSet/>
      <dgm:spPr/>
      <dgm:t>
        <a:bodyPr/>
        <a:lstStyle/>
        <a:p>
          <a:endParaRPr lang="de-CH"/>
        </a:p>
      </dgm:t>
    </dgm:pt>
    <dgm:pt modelId="{553DA85B-A352-4068-A3E4-07EBBD048044}" type="sibTrans" cxnId="{84B0719B-D955-4709-9C66-8B130D497D94}">
      <dgm:prSet/>
      <dgm:spPr/>
      <dgm:t>
        <a:bodyPr/>
        <a:lstStyle/>
        <a:p>
          <a:endParaRPr lang="de-CH"/>
        </a:p>
      </dgm:t>
    </dgm:pt>
    <dgm:pt modelId="{640B58DA-D607-45C3-BA94-DF91F1E8E1A0}">
      <dgm:prSet/>
      <dgm:spPr/>
      <dgm:t>
        <a:bodyPr/>
        <a:lstStyle/>
        <a:p>
          <a:r>
            <a:rPr lang="en-GB" noProof="0" dirty="0"/>
            <a:t>always takes </a:t>
          </a:r>
          <a:r>
            <a:rPr lang="en-GB" noProof="0" dirty="0" err="1"/>
            <a:t>NodeID</a:t>
          </a:r>
          <a:r>
            <a:rPr lang="en-GB" noProof="0" dirty="0"/>
            <a:t>(s) as argument</a:t>
          </a:r>
        </a:p>
      </dgm:t>
    </dgm:pt>
    <dgm:pt modelId="{BC74EE51-1E5A-48F6-B579-A877DB1914AF}" type="parTrans" cxnId="{75536EA2-3860-48AC-B482-68D3C3DDD231}">
      <dgm:prSet/>
      <dgm:spPr/>
      <dgm:t>
        <a:bodyPr/>
        <a:lstStyle/>
        <a:p>
          <a:endParaRPr lang="de-CH"/>
        </a:p>
      </dgm:t>
    </dgm:pt>
    <dgm:pt modelId="{F191EB85-141E-4D6B-89D0-DDA93E1CE897}" type="sibTrans" cxnId="{75536EA2-3860-48AC-B482-68D3C3DDD231}">
      <dgm:prSet/>
      <dgm:spPr/>
      <dgm:t>
        <a:bodyPr/>
        <a:lstStyle/>
        <a:p>
          <a:endParaRPr lang="de-CH"/>
        </a:p>
      </dgm:t>
    </dgm:pt>
    <dgm:pt modelId="{8F102D0E-8ECA-4AE6-A821-362C1DAAD3FE}">
      <dgm:prSet/>
      <dgm:spPr/>
      <dgm:t>
        <a:bodyPr/>
        <a:lstStyle/>
        <a:p>
          <a:r>
            <a:rPr lang="en-GB" noProof="0" dirty="0"/>
            <a:t>at least one </a:t>
          </a:r>
          <a:r>
            <a:rPr lang="en-GB" b="1" noProof="0" dirty="0"/>
            <a:t>bootstrap </a:t>
          </a:r>
          <a:r>
            <a:rPr lang="en-GB" b="1" noProof="0" dirty="0" err="1"/>
            <a:t>NodeID</a:t>
          </a:r>
          <a:r>
            <a:rPr lang="en-GB" b="1" noProof="0" dirty="0"/>
            <a:t> </a:t>
          </a:r>
          <a:r>
            <a:rPr lang="en-GB" noProof="0" dirty="0"/>
            <a:t>has to be known</a:t>
          </a:r>
        </a:p>
      </dgm:t>
    </dgm:pt>
    <dgm:pt modelId="{73FEE950-1CF6-4A90-9018-1ECE6EF649CC}" type="parTrans" cxnId="{0E9DC5E9-748C-4D15-9A9E-E38ADCFD2D23}">
      <dgm:prSet/>
      <dgm:spPr/>
      <dgm:t>
        <a:bodyPr/>
        <a:lstStyle/>
        <a:p>
          <a:endParaRPr lang="de-CH"/>
        </a:p>
      </dgm:t>
    </dgm:pt>
    <dgm:pt modelId="{5CFBA24C-02BA-4277-8EE4-C74CFED26669}" type="sibTrans" cxnId="{0E9DC5E9-748C-4D15-9A9E-E38ADCFD2D23}">
      <dgm:prSet/>
      <dgm:spPr/>
      <dgm:t>
        <a:bodyPr/>
        <a:lstStyle/>
        <a:p>
          <a:endParaRPr lang="de-CH"/>
        </a:p>
      </dgm:t>
    </dgm:pt>
    <dgm:pt modelId="{8D4E065F-DDBD-4398-8B4B-1022E47D7AAA}" type="pres">
      <dgm:prSet presAssocID="{C725603C-3703-451A-B468-AF0116FEA510}" presName="linear" presStyleCnt="0">
        <dgm:presLayoutVars>
          <dgm:dir/>
          <dgm:animLvl val="lvl"/>
          <dgm:resizeHandles val="exact"/>
        </dgm:presLayoutVars>
      </dgm:prSet>
      <dgm:spPr/>
    </dgm:pt>
    <dgm:pt modelId="{09BEE4B4-9F4C-4889-887D-04313E7DC5B9}" type="pres">
      <dgm:prSet presAssocID="{A22E3F9E-ACF2-4843-96C6-EF050954002D}" presName="parentLin" presStyleCnt="0"/>
      <dgm:spPr/>
    </dgm:pt>
    <dgm:pt modelId="{E3093BB3-5786-4894-BB76-A54C94E54061}" type="pres">
      <dgm:prSet presAssocID="{A22E3F9E-ACF2-4843-96C6-EF050954002D}" presName="parentLeftMargin" presStyleLbl="node1" presStyleIdx="0" presStyleCnt="3"/>
      <dgm:spPr/>
    </dgm:pt>
    <dgm:pt modelId="{A03BAE0B-6C95-41A9-A469-0DC6D33BF839}" type="pres">
      <dgm:prSet presAssocID="{A22E3F9E-ACF2-4843-96C6-EF050954002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8AF45C3-73E5-4AF1-928A-CB13DC6D6E83}" type="pres">
      <dgm:prSet presAssocID="{A22E3F9E-ACF2-4843-96C6-EF050954002D}" presName="negativeSpace" presStyleCnt="0"/>
      <dgm:spPr/>
    </dgm:pt>
    <dgm:pt modelId="{D8D6CAF5-E105-4FEA-8997-8162DC4912D1}" type="pres">
      <dgm:prSet presAssocID="{A22E3F9E-ACF2-4843-96C6-EF050954002D}" presName="childText" presStyleLbl="conFgAcc1" presStyleIdx="0" presStyleCnt="3">
        <dgm:presLayoutVars>
          <dgm:bulletEnabled val="1"/>
        </dgm:presLayoutVars>
      </dgm:prSet>
      <dgm:spPr/>
    </dgm:pt>
    <dgm:pt modelId="{A4A35AD3-C731-4011-B53D-A62B6C2396BF}" type="pres">
      <dgm:prSet presAssocID="{701E5CD3-9BFE-4A5C-8005-52E91369193D}" presName="spaceBetweenRectangles" presStyleCnt="0"/>
      <dgm:spPr/>
    </dgm:pt>
    <dgm:pt modelId="{7D848880-C10F-4A36-B46D-71BF5562ACB2}" type="pres">
      <dgm:prSet presAssocID="{0DA21604-608F-4423-BAF6-F52F4F2953E2}" presName="parentLin" presStyleCnt="0"/>
      <dgm:spPr/>
    </dgm:pt>
    <dgm:pt modelId="{1D60885A-F6C6-40CC-AEC5-306B5434463B}" type="pres">
      <dgm:prSet presAssocID="{0DA21604-608F-4423-BAF6-F52F4F2953E2}" presName="parentLeftMargin" presStyleLbl="node1" presStyleIdx="0" presStyleCnt="3"/>
      <dgm:spPr/>
    </dgm:pt>
    <dgm:pt modelId="{2FC50667-8A22-4FD8-B782-9BB2F0F54C66}" type="pres">
      <dgm:prSet presAssocID="{0DA21604-608F-4423-BAF6-F52F4F2953E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2346670-44F2-44C8-8860-FCA5C84F54CF}" type="pres">
      <dgm:prSet presAssocID="{0DA21604-608F-4423-BAF6-F52F4F2953E2}" presName="negativeSpace" presStyleCnt="0"/>
      <dgm:spPr/>
    </dgm:pt>
    <dgm:pt modelId="{2657F6B5-7A03-418D-9E28-3D668979C1FD}" type="pres">
      <dgm:prSet presAssocID="{0DA21604-608F-4423-BAF6-F52F4F2953E2}" presName="childText" presStyleLbl="conFgAcc1" presStyleIdx="1" presStyleCnt="3">
        <dgm:presLayoutVars>
          <dgm:bulletEnabled val="1"/>
        </dgm:presLayoutVars>
      </dgm:prSet>
      <dgm:spPr/>
    </dgm:pt>
    <dgm:pt modelId="{843EFD22-FED7-4A28-A0FB-C689503F6131}" type="pres">
      <dgm:prSet presAssocID="{24E97AB7-5E54-4652-8B6D-2A574832AF1A}" presName="spaceBetweenRectangles" presStyleCnt="0"/>
      <dgm:spPr/>
    </dgm:pt>
    <dgm:pt modelId="{5E5A309C-D347-455C-82EB-B6FF7CFFD059}" type="pres">
      <dgm:prSet presAssocID="{963DF3E4-E946-44BA-842E-7F189BF53164}" presName="parentLin" presStyleCnt="0"/>
      <dgm:spPr/>
    </dgm:pt>
    <dgm:pt modelId="{A3839FB8-A035-4F79-A4B7-02CE0AB9E09B}" type="pres">
      <dgm:prSet presAssocID="{963DF3E4-E946-44BA-842E-7F189BF53164}" presName="parentLeftMargin" presStyleLbl="node1" presStyleIdx="1" presStyleCnt="3"/>
      <dgm:spPr/>
    </dgm:pt>
    <dgm:pt modelId="{40DBFA34-6B32-48F7-8547-8A311D2549C1}" type="pres">
      <dgm:prSet presAssocID="{963DF3E4-E946-44BA-842E-7F189BF5316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493F520-31F2-4AD7-84EE-8A0DD28C922B}" type="pres">
      <dgm:prSet presAssocID="{963DF3E4-E946-44BA-842E-7F189BF53164}" presName="negativeSpace" presStyleCnt="0"/>
      <dgm:spPr/>
    </dgm:pt>
    <dgm:pt modelId="{4A788221-5012-4586-BA92-2D982D1EF78C}" type="pres">
      <dgm:prSet presAssocID="{963DF3E4-E946-44BA-842E-7F189BF5316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0F2181A-9763-4D1D-85EB-8B5EBADD2D59}" srcId="{0DA21604-608F-4423-BAF6-F52F4F2953E2}" destId="{34448CCC-2129-4E25-8815-D21A9015C073}" srcOrd="0" destOrd="0" parTransId="{AB9E2C23-1162-4308-A8C6-9D52D3D632D1}" sibTransId="{E3FABFB7-905D-4019-A3FA-348919414008}"/>
    <dgm:cxn modelId="{3E89FB1C-D805-4E38-A53B-FC50DA1A7395}" type="presOf" srcId="{0D9CCDDB-AF9B-4F5C-AB17-727F491C1652}" destId="{2657F6B5-7A03-418D-9E28-3D668979C1FD}" srcOrd="0" destOrd="1" presId="urn:microsoft.com/office/officeart/2005/8/layout/list1"/>
    <dgm:cxn modelId="{E6B03B27-A519-46D0-827D-2523DBBED4A5}" srcId="{A22E3F9E-ACF2-4843-96C6-EF050954002D}" destId="{6EA0AFD2-E6B3-40C3-BA01-818317AD1118}" srcOrd="1" destOrd="0" parTransId="{2FF8D0C0-916C-41DE-A7FA-8F09F5471E86}" sibTransId="{A379E406-A16E-4A01-812F-13FF0B0EF298}"/>
    <dgm:cxn modelId="{60F1452E-203A-4F75-BF92-B06E1B6589C6}" type="presOf" srcId="{963DF3E4-E946-44BA-842E-7F189BF53164}" destId="{A3839FB8-A035-4F79-A4B7-02CE0AB9E09B}" srcOrd="0" destOrd="0" presId="urn:microsoft.com/office/officeart/2005/8/layout/list1"/>
    <dgm:cxn modelId="{97DA883D-45D9-4F80-AC55-37695B2A1914}" type="presOf" srcId="{C725603C-3703-451A-B468-AF0116FEA510}" destId="{8D4E065F-DDBD-4398-8B4B-1022E47D7AAA}" srcOrd="0" destOrd="0" presId="urn:microsoft.com/office/officeart/2005/8/layout/list1"/>
    <dgm:cxn modelId="{065BD769-25DD-49A8-B701-F312014C1977}" type="presOf" srcId="{501A58E9-01B2-4A9A-9910-6C5F4117D643}" destId="{D8D6CAF5-E105-4FEA-8997-8162DC4912D1}" srcOrd="0" destOrd="0" presId="urn:microsoft.com/office/officeart/2005/8/layout/list1"/>
    <dgm:cxn modelId="{00389F4B-8CE5-4596-AA46-E82826580081}" type="presOf" srcId="{34448CCC-2129-4E25-8815-D21A9015C073}" destId="{2657F6B5-7A03-418D-9E28-3D668979C1FD}" srcOrd="0" destOrd="0" presId="urn:microsoft.com/office/officeart/2005/8/layout/list1"/>
    <dgm:cxn modelId="{7FB9A26F-D84A-4DD3-8890-4A3E84629DF2}" type="presOf" srcId="{8F102D0E-8ECA-4AE6-A821-362C1DAAD3FE}" destId="{4A788221-5012-4586-BA92-2D982D1EF78C}" srcOrd="0" destOrd="2" presId="urn:microsoft.com/office/officeart/2005/8/layout/list1"/>
    <dgm:cxn modelId="{E4FE327D-CE49-4602-95D3-7D2109AC14AF}" srcId="{0DA21604-608F-4423-BAF6-F52F4F2953E2}" destId="{0D9CCDDB-AF9B-4F5C-AB17-727F491C1652}" srcOrd="1" destOrd="0" parTransId="{AC52EE59-1BC1-435B-97D3-7180350C9C62}" sibTransId="{F56710CF-6254-4423-AF39-ADAD03266EE7}"/>
    <dgm:cxn modelId="{EDB97A82-CB9B-4142-BFDE-A9E82B160F81}" type="presOf" srcId="{0DA21604-608F-4423-BAF6-F52F4F2953E2}" destId="{1D60885A-F6C6-40CC-AEC5-306B5434463B}" srcOrd="0" destOrd="0" presId="urn:microsoft.com/office/officeart/2005/8/layout/list1"/>
    <dgm:cxn modelId="{D7B8B08E-7937-480F-AD6A-4F6CEBBCD2A1}" type="presOf" srcId="{4EEC1631-60BF-495C-84F5-F879E0678623}" destId="{4A788221-5012-4586-BA92-2D982D1EF78C}" srcOrd="0" destOrd="0" presId="urn:microsoft.com/office/officeart/2005/8/layout/list1"/>
    <dgm:cxn modelId="{BB7A2190-0CEC-4C00-9F1D-BD9E9EB30646}" type="presOf" srcId="{640B58DA-D607-45C3-BA94-DF91F1E8E1A0}" destId="{4A788221-5012-4586-BA92-2D982D1EF78C}" srcOrd="0" destOrd="1" presId="urn:microsoft.com/office/officeart/2005/8/layout/list1"/>
    <dgm:cxn modelId="{203FAA96-1166-4EFC-AED7-C1C7EFB4A28B}" type="presOf" srcId="{A22E3F9E-ACF2-4843-96C6-EF050954002D}" destId="{E3093BB3-5786-4894-BB76-A54C94E54061}" srcOrd="0" destOrd="0" presId="urn:microsoft.com/office/officeart/2005/8/layout/list1"/>
    <dgm:cxn modelId="{84B0719B-D955-4709-9C66-8B130D497D94}" srcId="{963DF3E4-E946-44BA-842E-7F189BF53164}" destId="{4EEC1631-60BF-495C-84F5-F879E0678623}" srcOrd="0" destOrd="0" parTransId="{29511677-5080-4F14-BDA5-5F22FD1DCB60}" sibTransId="{553DA85B-A352-4068-A3E4-07EBBD048044}"/>
    <dgm:cxn modelId="{8A4E0EA2-364D-4C7C-A0C6-FF6FF72501CC}" srcId="{C725603C-3703-451A-B468-AF0116FEA510}" destId="{0DA21604-608F-4423-BAF6-F52F4F2953E2}" srcOrd="1" destOrd="0" parTransId="{5706EE27-3FEB-423A-AA70-31705F5EEC9B}" sibTransId="{24E97AB7-5E54-4652-8B6D-2A574832AF1A}"/>
    <dgm:cxn modelId="{75536EA2-3860-48AC-B482-68D3C3DDD231}" srcId="{963DF3E4-E946-44BA-842E-7F189BF53164}" destId="{640B58DA-D607-45C3-BA94-DF91F1E8E1A0}" srcOrd="1" destOrd="0" parTransId="{BC74EE51-1E5A-48F6-B579-A877DB1914AF}" sibTransId="{F191EB85-141E-4D6B-89D0-DDA93E1CE897}"/>
    <dgm:cxn modelId="{3AA180A4-C911-41E4-8C80-A9F5A412C7A9}" srcId="{C725603C-3703-451A-B468-AF0116FEA510}" destId="{A22E3F9E-ACF2-4843-96C6-EF050954002D}" srcOrd="0" destOrd="0" parTransId="{D2E61BAD-028E-4C02-80CF-EA07B3EC87B0}" sibTransId="{701E5CD3-9BFE-4A5C-8005-52E91369193D}"/>
    <dgm:cxn modelId="{943369B6-8B27-4759-B35C-FA7A8C980FC6}" type="presOf" srcId="{6EA0AFD2-E6B3-40C3-BA01-818317AD1118}" destId="{D8D6CAF5-E105-4FEA-8997-8162DC4912D1}" srcOrd="0" destOrd="1" presId="urn:microsoft.com/office/officeart/2005/8/layout/list1"/>
    <dgm:cxn modelId="{633399C9-1D0C-4E83-B590-8AA095861F3B}" type="presOf" srcId="{A22E3F9E-ACF2-4843-96C6-EF050954002D}" destId="{A03BAE0B-6C95-41A9-A469-0DC6D33BF839}" srcOrd="1" destOrd="0" presId="urn:microsoft.com/office/officeart/2005/8/layout/list1"/>
    <dgm:cxn modelId="{802111DB-118C-4C4F-9DD9-EDFCA8A167E5}" srcId="{C725603C-3703-451A-B468-AF0116FEA510}" destId="{963DF3E4-E946-44BA-842E-7F189BF53164}" srcOrd="2" destOrd="0" parTransId="{CC69D2DA-49CF-4385-A95E-9D58CE5BEB3A}" sibTransId="{BD65C8A0-8982-476F-8899-8C7A660FC5A3}"/>
    <dgm:cxn modelId="{32F019DF-6A92-440E-B23C-C3D4D50F5D14}" type="presOf" srcId="{963DF3E4-E946-44BA-842E-7F189BF53164}" destId="{40DBFA34-6B32-48F7-8547-8A311D2549C1}" srcOrd="1" destOrd="0" presId="urn:microsoft.com/office/officeart/2005/8/layout/list1"/>
    <dgm:cxn modelId="{0E9DC5E9-748C-4D15-9A9E-E38ADCFD2D23}" srcId="{963DF3E4-E946-44BA-842E-7F189BF53164}" destId="{8F102D0E-8ECA-4AE6-A821-362C1DAAD3FE}" srcOrd="2" destOrd="0" parTransId="{73FEE950-1CF6-4A90-9018-1ECE6EF649CC}" sibTransId="{5CFBA24C-02BA-4277-8EE4-C74CFED26669}"/>
    <dgm:cxn modelId="{C1F6DEE9-CD63-40AF-96B2-1ADE4579129E}" srcId="{A22E3F9E-ACF2-4843-96C6-EF050954002D}" destId="{501A58E9-01B2-4A9A-9910-6C5F4117D643}" srcOrd="0" destOrd="0" parTransId="{E0B81024-440E-4694-9F7B-D2E08F71DD63}" sibTransId="{4A8EFCA2-0194-467A-9F65-68FC1B766D1F}"/>
    <dgm:cxn modelId="{EA1619FB-9114-4579-BACF-0B7F926B59C6}" type="presOf" srcId="{0DA21604-608F-4423-BAF6-F52F4F2953E2}" destId="{2FC50667-8A22-4FD8-B782-9BB2F0F54C66}" srcOrd="1" destOrd="0" presId="urn:microsoft.com/office/officeart/2005/8/layout/list1"/>
    <dgm:cxn modelId="{0DB89709-FD9C-49C3-9EF6-D0400A2CCFAE}" type="presParOf" srcId="{8D4E065F-DDBD-4398-8B4B-1022E47D7AAA}" destId="{09BEE4B4-9F4C-4889-887D-04313E7DC5B9}" srcOrd="0" destOrd="0" presId="urn:microsoft.com/office/officeart/2005/8/layout/list1"/>
    <dgm:cxn modelId="{5081FA3B-3830-4DDF-9482-43FEE310CB41}" type="presParOf" srcId="{09BEE4B4-9F4C-4889-887D-04313E7DC5B9}" destId="{E3093BB3-5786-4894-BB76-A54C94E54061}" srcOrd="0" destOrd="0" presId="urn:microsoft.com/office/officeart/2005/8/layout/list1"/>
    <dgm:cxn modelId="{9D7CBB8F-31DA-4951-A9FB-19EF0B72DD27}" type="presParOf" srcId="{09BEE4B4-9F4C-4889-887D-04313E7DC5B9}" destId="{A03BAE0B-6C95-41A9-A469-0DC6D33BF839}" srcOrd="1" destOrd="0" presId="urn:microsoft.com/office/officeart/2005/8/layout/list1"/>
    <dgm:cxn modelId="{953BBDB9-510F-4D92-A8EA-6DAE3EE587FB}" type="presParOf" srcId="{8D4E065F-DDBD-4398-8B4B-1022E47D7AAA}" destId="{48AF45C3-73E5-4AF1-928A-CB13DC6D6E83}" srcOrd="1" destOrd="0" presId="urn:microsoft.com/office/officeart/2005/8/layout/list1"/>
    <dgm:cxn modelId="{C8C9C007-FCB8-4903-86E6-1D2F0BE9798A}" type="presParOf" srcId="{8D4E065F-DDBD-4398-8B4B-1022E47D7AAA}" destId="{D8D6CAF5-E105-4FEA-8997-8162DC4912D1}" srcOrd="2" destOrd="0" presId="urn:microsoft.com/office/officeart/2005/8/layout/list1"/>
    <dgm:cxn modelId="{B5863CBE-E9EC-4C93-B569-0152318358D5}" type="presParOf" srcId="{8D4E065F-DDBD-4398-8B4B-1022E47D7AAA}" destId="{A4A35AD3-C731-4011-B53D-A62B6C2396BF}" srcOrd="3" destOrd="0" presId="urn:microsoft.com/office/officeart/2005/8/layout/list1"/>
    <dgm:cxn modelId="{A3AC021B-C008-4616-BF6D-96FA4DAE8ABC}" type="presParOf" srcId="{8D4E065F-DDBD-4398-8B4B-1022E47D7AAA}" destId="{7D848880-C10F-4A36-B46D-71BF5562ACB2}" srcOrd="4" destOrd="0" presId="urn:microsoft.com/office/officeart/2005/8/layout/list1"/>
    <dgm:cxn modelId="{3081098F-6456-4F9E-82F5-2A328BC66C8B}" type="presParOf" srcId="{7D848880-C10F-4A36-B46D-71BF5562ACB2}" destId="{1D60885A-F6C6-40CC-AEC5-306B5434463B}" srcOrd="0" destOrd="0" presId="urn:microsoft.com/office/officeart/2005/8/layout/list1"/>
    <dgm:cxn modelId="{1AE366A6-67F8-4946-BAC5-D3ED6B2F5D22}" type="presParOf" srcId="{7D848880-C10F-4A36-B46D-71BF5562ACB2}" destId="{2FC50667-8A22-4FD8-B782-9BB2F0F54C66}" srcOrd="1" destOrd="0" presId="urn:microsoft.com/office/officeart/2005/8/layout/list1"/>
    <dgm:cxn modelId="{C9F2A9B6-F9EF-425A-BCEB-DE97FB87B26E}" type="presParOf" srcId="{8D4E065F-DDBD-4398-8B4B-1022E47D7AAA}" destId="{22346670-44F2-44C8-8860-FCA5C84F54CF}" srcOrd="5" destOrd="0" presId="urn:microsoft.com/office/officeart/2005/8/layout/list1"/>
    <dgm:cxn modelId="{1D573D23-64EB-4B93-9ACC-3EAD5F72BCDC}" type="presParOf" srcId="{8D4E065F-DDBD-4398-8B4B-1022E47D7AAA}" destId="{2657F6B5-7A03-418D-9E28-3D668979C1FD}" srcOrd="6" destOrd="0" presId="urn:microsoft.com/office/officeart/2005/8/layout/list1"/>
    <dgm:cxn modelId="{9B175B13-D50C-4268-B591-0B2DFF2A7262}" type="presParOf" srcId="{8D4E065F-DDBD-4398-8B4B-1022E47D7AAA}" destId="{843EFD22-FED7-4A28-A0FB-C689503F6131}" srcOrd="7" destOrd="0" presId="urn:microsoft.com/office/officeart/2005/8/layout/list1"/>
    <dgm:cxn modelId="{6DF7ACB6-4477-48E1-B181-E738C1E41775}" type="presParOf" srcId="{8D4E065F-DDBD-4398-8B4B-1022E47D7AAA}" destId="{5E5A309C-D347-455C-82EB-B6FF7CFFD059}" srcOrd="8" destOrd="0" presId="urn:microsoft.com/office/officeart/2005/8/layout/list1"/>
    <dgm:cxn modelId="{3B465928-16B9-49E0-838F-533545A77B2B}" type="presParOf" srcId="{5E5A309C-D347-455C-82EB-B6FF7CFFD059}" destId="{A3839FB8-A035-4F79-A4B7-02CE0AB9E09B}" srcOrd="0" destOrd="0" presId="urn:microsoft.com/office/officeart/2005/8/layout/list1"/>
    <dgm:cxn modelId="{0D90A946-78B1-41C6-AF26-A40FEF613325}" type="presParOf" srcId="{5E5A309C-D347-455C-82EB-B6FF7CFFD059}" destId="{40DBFA34-6B32-48F7-8547-8A311D2549C1}" srcOrd="1" destOrd="0" presId="urn:microsoft.com/office/officeart/2005/8/layout/list1"/>
    <dgm:cxn modelId="{4587F108-5A4E-4F44-9ACD-12127E217039}" type="presParOf" srcId="{8D4E065F-DDBD-4398-8B4B-1022E47D7AAA}" destId="{3493F520-31F2-4AD7-84EE-8A0DD28C922B}" srcOrd="9" destOrd="0" presId="urn:microsoft.com/office/officeart/2005/8/layout/list1"/>
    <dgm:cxn modelId="{B239365A-1D04-4421-AC24-376F29F14464}" type="presParOf" srcId="{8D4E065F-DDBD-4398-8B4B-1022E47D7AAA}" destId="{4A788221-5012-4586-BA92-2D982D1EF78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600853-B208-49E3-9375-21DB38C77EC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C83F07-B0A7-49F1-B509-BAA11679057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b="1" noProof="0" dirty="0">
              <a:solidFill>
                <a:schemeClr val="accent1"/>
              </a:solidFill>
            </a:rPr>
            <a:t>Possible questions to answer:</a:t>
          </a:r>
        </a:p>
      </dgm:t>
    </dgm:pt>
    <dgm:pt modelId="{6F141467-0443-4275-833B-BB15AD9795EB}" type="parTrans" cxnId="{9199C501-FF50-4E10-853F-08A4E9F5AE8A}">
      <dgm:prSet/>
      <dgm:spPr/>
      <dgm:t>
        <a:bodyPr/>
        <a:lstStyle/>
        <a:p>
          <a:endParaRPr lang="en-US"/>
        </a:p>
      </dgm:t>
    </dgm:pt>
    <dgm:pt modelId="{FE869DAD-EB63-45F5-B1B0-97BDDF7A54B1}" type="sibTrans" cxnId="{9199C501-FF50-4E10-853F-08A4E9F5AE8A}">
      <dgm:prSet/>
      <dgm:spPr/>
      <dgm:t>
        <a:bodyPr/>
        <a:lstStyle/>
        <a:p>
          <a:endParaRPr lang="en-US"/>
        </a:p>
      </dgm:t>
    </dgm:pt>
    <dgm:pt modelId="{CCC7B0B1-3312-41E8-AC13-3EF7410D0AF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noProof="0" dirty="0"/>
            <a:t>How robust is the gossip against network failures, </a:t>
          </a:r>
          <a:r>
            <a:rPr lang="en-GB" noProof="0" dirty="0" err="1"/>
            <a:t>i</a:t>
          </a:r>
          <a:r>
            <a:rPr lang="en-GB" noProof="0" dirty="0"/>
            <a:t>. e. packet loss, latency, interruptions?</a:t>
          </a:r>
        </a:p>
      </dgm:t>
    </dgm:pt>
    <dgm:pt modelId="{FFEECBBC-390F-4DF5-933A-230582E0F4A2}" type="parTrans" cxnId="{CE0EACE3-9BC3-4E8F-A81A-19E1EC58A216}">
      <dgm:prSet/>
      <dgm:spPr/>
      <dgm:t>
        <a:bodyPr/>
        <a:lstStyle/>
        <a:p>
          <a:endParaRPr lang="en-US"/>
        </a:p>
      </dgm:t>
    </dgm:pt>
    <dgm:pt modelId="{45D03BA3-3F34-4E03-862F-8796C006099F}" type="sibTrans" cxnId="{CE0EACE3-9BC3-4E8F-A81A-19E1EC58A216}">
      <dgm:prSet/>
      <dgm:spPr/>
      <dgm:t>
        <a:bodyPr/>
        <a:lstStyle/>
        <a:p>
          <a:endParaRPr lang="en-US"/>
        </a:p>
      </dgm:t>
    </dgm:pt>
    <dgm:pt modelId="{6E32D9BC-2BF7-441A-8B7F-BB827D98419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noProof="0" dirty="0"/>
            <a:t>How much does discovery (direct vs. relay) affect delivery rates?</a:t>
          </a:r>
        </a:p>
      </dgm:t>
    </dgm:pt>
    <dgm:pt modelId="{13760D25-42CF-4F72-BEA0-A0E6B0B8E4E7}" type="parTrans" cxnId="{5C84F6B6-7A60-48ED-9369-31768BB6F8AB}">
      <dgm:prSet/>
      <dgm:spPr/>
      <dgm:t>
        <a:bodyPr/>
        <a:lstStyle/>
        <a:p>
          <a:endParaRPr lang="en-US"/>
        </a:p>
      </dgm:t>
    </dgm:pt>
    <dgm:pt modelId="{E42646E3-593E-4152-A2E7-CF34882F49F1}" type="sibTrans" cxnId="{5C84F6B6-7A60-48ED-9369-31768BB6F8AB}">
      <dgm:prSet/>
      <dgm:spPr/>
      <dgm:t>
        <a:bodyPr/>
        <a:lstStyle/>
        <a:p>
          <a:endParaRPr lang="en-US"/>
        </a:p>
      </dgm:t>
    </dgm:pt>
    <dgm:pt modelId="{21B0EF91-BC06-4D5F-A646-EC836E9B0BC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noProof="0" dirty="0"/>
            <a:t>How does the system converge when peers fail or reconnect?</a:t>
          </a:r>
        </a:p>
      </dgm:t>
    </dgm:pt>
    <dgm:pt modelId="{F1E39A40-A5B9-4418-AC88-16BE9EDDE346}" type="parTrans" cxnId="{484E6D52-37BD-4133-A064-08CB2F126081}">
      <dgm:prSet/>
      <dgm:spPr/>
      <dgm:t>
        <a:bodyPr/>
        <a:lstStyle/>
        <a:p>
          <a:endParaRPr lang="en-US"/>
        </a:p>
      </dgm:t>
    </dgm:pt>
    <dgm:pt modelId="{52B118BD-FAFC-49A0-97D4-993D18C1F8EA}" type="sibTrans" cxnId="{484E6D52-37BD-4133-A064-08CB2F126081}">
      <dgm:prSet/>
      <dgm:spPr/>
      <dgm:t>
        <a:bodyPr/>
        <a:lstStyle/>
        <a:p>
          <a:endParaRPr lang="en-US"/>
        </a:p>
      </dgm:t>
    </dgm:pt>
    <dgm:pt modelId="{020CD623-0708-4155-A4A4-8F3096F21814}" type="pres">
      <dgm:prSet presAssocID="{17600853-B208-49E3-9375-21DB38C77ECC}" presName="root" presStyleCnt="0">
        <dgm:presLayoutVars>
          <dgm:dir/>
          <dgm:resizeHandles val="exact"/>
        </dgm:presLayoutVars>
      </dgm:prSet>
      <dgm:spPr/>
    </dgm:pt>
    <dgm:pt modelId="{304F21AF-209E-4F48-B4C1-5654814D2722}" type="pres">
      <dgm:prSet presAssocID="{D2C83F07-B0A7-49F1-B509-BAA116790578}" presName="compNode" presStyleCnt="0"/>
      <dgm:spPr/>
    </dgm:pt>
    <dgm:pt modelId="{2D0D2993-7684-4B0C-84B3-31EA269C5C14}" type="pres">
      <dgm:prSet presAssocID="{D2C83F07-B0A7-49F1-B509-BAA116790578}" presName="bgRect" presStyleLbl="bgShp" presStyleIdx="0" presStyleCnt="4"/>
      <dgm:spPr>
        <a:noFill/>
      </dgm:spPr>
    </dgm:pt>
    <dgm:pt modelId="{BC09B09A-BD6C-4A30-9A8A-36E9C352BC84}" type="pres">
      <dgm:prSet presAssocID="{D2C83F07-B0A7-49F1-B509-BAA11679057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ragen"/>
        </a:ext>
      </dgm:extLst>
    </dgm:pt>
    <dgm:pt modelId="{02ADFC92-555D-4CA7-88DA-36EF02421CC2}" type="pres">
      <dgm:prSet presAssocID="{D2C83F07-B0A7-49F1-B509-BAA116790578}" presName="spaceRect" presStyleCnt="0"/>
      <dgm:spPr/>
    </dgm:pt>
    <dgm:pt modelId="{814C6FC4-261E-46A2-89A4-72A970F955DE}" type="pres">
      <dgm:prSet presAssocID="{D2C83F07-B0A7-49F1-B509-BAA116790578}" presName="parTx" presStyleLbl="revTx" presStyleIdx="0" presStyleCnt="4">
        <dgm:presLayoutVars>
          <dgm:chMax val="0"/>
          <dgm:chPref val="0"/>
        </dgm:presLayoutVars>
      </dgm:prSet>
      <dgm:spPr/>
    </dgm:pt>
    <dgm:pt modelId="{CE44190D-E621-4D6A-9326-CBA8D396EE33}" type="pres">
      <dgm:prSet presAssocID="{FE869DAD-EB63-45F5-B1B0-97BDDF7A54B1}" presName="sibTrans" presStyleCnt="0"/>
      <dgm:spPr/>
    </dgm:pt>
    <dgm:pt modelId="{A3C21AFE-1376-4F69-B575-C8F0723AAEC2}" type="pres">
      <dgm:prSet presAssocID="{CCC7B0B1-3312-41E8-AC13-3EF7410D0AF0}" presName="compNode" presStyleCnt="0"/>
      <dgm:spPr/>
    </dgm:pt>
    <dgm:pt modelId="{CDB31394-46C3-4A9E-889C-921145B26887}" type="pres">
      <dgm:prSet presAssocID="{CCC7B0B1-3312-41E8-AC13-3EF7410D0AF0}" presName="bgRect" presStyleLbl="bgShp" presStyleIdx="1" presStyleCnt="4"/>
      <dgm:spPr/>
    </dgm:pt>
    <dgm:pt modelId="{A8926530-2EA9-40AA-A644-063788640E76}" type="pres">
      <dgm:prSet presAssocID="{CCC7B0B1-3312-41E8-AC13-3EF7410D0AF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trennt"/>
        </a:ext>
      </dgm:extLst>
    </dgm:pt>
    <dgm:pt modelId="{A5415B22-A535-4E89-8C0B-AF77079CFC0D}" type="pres">
      <dgm:prSet presAssocID="{CCC7B0B1-3312-41E8-AC13-3EF7410D0AF0}" presName="spaceRect" presStyleCnt="0"/>
      <dgm:spPr/>
    </dgm:pt>
    <dgm:pt modelId="{9255950C-F8D2-4CD2-9DEC-83E0E75BE5B1}" type="pres">
      <dgm:prSet presAssocID="{CCC7B0B1-3312-41E8-AC13-3EF7410D0AF0}" presName="parTx" presStyleLbl="revTx" presStyleIdx="1" presStyleCnt="4">
        <dgm:presLayoutVars>
          <dgm:chMax val="0"/>
          <dgm:chPref val="0"/>
        </dgm:presLayoutVars>
      </dgm:prSet>
      <dgm:spPr/>
    </dgm:pt>
    <dgm:pt modelId="{2B92DFD1-9E78-47EE-A0BB-06702291E0A9}" type="pres">
      <dgm:prSet presAssocID="{45D03BA3-3F34-4E03-862F-8796C006099F}" presName="sibTrans" presStyleCnt="0"/>
      <dgm:spPr/>
    </dgm:pt>
    <dgm:pt modelId="{53453ED4-D568-466A-8A48-845895AB2CB6}" type="pres">
      <dgm:prSet presAssocID="{6E32D9BC-2BF7-441A-8B7F-BB827D98419A}" presName="compNode" presStyleCnt="0"/>
      <dgm:spPr/>
    </dgm:pt>
    <dgm:pt modelId="{C65E721A-3AC6-4E98-84D1-0BA2AAD97D92}" type="pres">
      <dgm:prSet presAssocID="{6E32D9BC-2BF7-441A-8B7F-BB827D98419A}" presName="bgRect" presStyleLbl="bgShp" presStyleIdx="2" presStyleCnt="4"/>
      <dgm:spPr/>
    </dgm:pt>
    <dgm:pt modelId="{4950CA22-6607-4BAB-9A58-1873FCAC56E7}" type="pres">
      <dgm:prSet presAssocID="{6E32D9BC-2BF7-441A-8B7F-BB827D98419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KW"/>
        </a:ext>
      </dgm:extLst>
    </dgm:pt>
    <dgm:pt modelId="{39B5A7C8-400E-4A7E-AD37-354939BABF42}" type="pres">
      <dgm:prSet presAssocID="{6E32D9BC-2BF7-441A-8B7F-BB827D98419A}" presName="spaceRect" presStyleCnt="0"/>
      <dgm:spPr/>
    </dgm:pt>
    <dgm:pt modelId="{6B7D0BE7-3768-4A7C-AB61-AA3BF78630A4}" type="pres">
      <dgm:prSet presAssocID="{6E32D9BC-2BF7-441A-8B7F-BB827D98419A}" presName="parTx" presStyleLbl="revTx" presStyleIdx="2" presStyleCnt="4">
        <dgm:presLayoutVars>
          <dgm:chMax val="0"/>
          <dgm:chPref val="0"/>
        </dgm:presLayoutVars>
      </dgm:prSet>
      <dgm:spPr/>
    </dgm:pt>
    <dgm:pt modelId="{E915FF6B-AA31-4B6C-8AA2-F9CDE6D50388}" type="pres">
      <dgm:prSet presAssocID="{E42646E3-593E-4152-A2E7-CF34882F49F1}" presName="sibTrans" presStyleCnt="0"/>
      <dgm:spPr/>
    </dgm:pt>
    <dgm:pt modelId="{7C22D40F-9BE7-4B4A-A1AD-2AC73CE68495}" type="pres">
      <dgm:prSet presAssocID="{21B0EF91-BC06-4D5F-A646-EC836E9B0BC3}" presName="compNode" presStyleCnt="0"/>
      <dgm:spPr/>
    </dgm:pt>
    <dgm:pt modelId="{0A5C5BFF-E8F8-49E6-9E90-DCB189BCEB27}" type="pres">
      <dgm:prSet presAssocID="{21B0EF91-BC06-4D5F-A646-EC836E9B0BC3}" presName="bgRect" presStyleLbl="bgShp" presStyleIdx="3" presStyleCnt="4"/>
      <dgm:spPr/>
    </dgm:pt>
    <dgm:pt modelId="{93622367-4494-4BCF-B958-9B08806AF694}" type="pres">
      <dgm:prSet presAssocID="{21B0EF91-BC06-4D5F-A646-EC836E9B0BC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zwerk"/>
        </a:ext>
      </dgm:extLst>
    </dgm:pt>
    <dgm:pt modelId="{747928FD-EBB1-4EEB-A716-64E529A76D1A}" type="pres">
      <dgm:prSet presAssocID="{21B0EF91-BC06-4D5F-A646-EC836E9B0BC3}" presName="spaceRect" presStyleCnt="0"/>
      <dgm:spPr/>
    </dgm:pt>
    <dgm:pt modelId="{C771A25A-3B32-470F-ABDF-7A6492D08194}" type="pres">
      <dgm:prSet presAssocID="{21B0EF91-BC06-4D5F-A646-EC836E9B0BC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199C501-FF50-4E10-853F-08A4E9F5AE8A}" srcId="{17600853-B208-49E3-9375-21DB38C77ECC}" destId="{D2C83F07-B0A7-49F1-B509-BAA116790578}" srcOrd="0" destOrd="0" parTransId="{6F141467-0443-4275-833B-BB15AD9795EB}" sibTransId="{FE869DAD-EB63-45F5-B1B0-97BDDF7A54B1}"/>
    <dgm:cxn modelId="{75CDB606-11BC-4A58-8B1A-717DE79B9324}" type="presOf" srcId="{21B0EF91-BC06-4D5F-A646-EC836E9B0BC3}" destId="{C771A25A-3B32-470F-ABDF-7A6492D08194}" srcOrd="0" destOrd="0" presId="urn:microsoft.com/office/officeart/2018/2/layout/IconVerticalSolidList"/>
    <dgm:cxn modelId="{BE024225-407C-44CE-960E-0D6EB9665519}" type="presOf" srcId="{17600853-B208-49E3-9375-21DB38C77ECC}" destId="{020CD623-0708-4155-A4A4-8F3096F21814}" srcOrd="0" destOrd="0" presId="urn:microsoft.com/office/officeart/2018/2/layout/IconVerticalSolidList"/>
    <dgm:cxn modelId="{5BDB8927-39A8-452E-B82A-D80ACDB03FCC}" type="presOf" srcId="{D2C83F07-B0A7-49F1-B509-BAA116790578}" destId="{814C6FC4-261E-46A2-89A4-72A970F955DE}" srcOrd="0" destOrd="0" presId="urn:microsoft.com/office/officeart/2018/2/layout/IconVerticalSolidList"/>
    <dgm:cxn modelId="{484E6D52-37BD-4133-A064-08CB2F126081}" srcId="{17600853-B208-49E3-9375-21DB38C77ECC}" destId="{21B0EF91-BC06-4D5F-A646-EC836E9B0BC3}" srcOrd="3" destOrd="0" parTransId="{F1E39A40-A5B9-4418-AC88-16BE9EDDE346}" sibTransId="{52B118BD-FAFC-49A0-97D4-993D18C1F8EA}"/>
    <dgm:cxn modelId="{74B707AD-F8DE-4B78-8CE4-6F910292774C}" type="presOf" srcId="{6E32D9BC-2BF7-441A-8B7F-BB827D98419A}" destId="{6B7D0BE7-3768-4A7C-AB61-AA3BF78630A4}" srcOrd="0" destOrd="0" presId="urn:microsoft.com/office/officeart/2018/2/layout/IconVerticalSolidList"/>
    <dgm:cxn modelId="{5C84F6B6-7A60-48ED-9369-31768BB6F8AB}" srcId="{17600853-B208-49E3-9375-21DB38C77ECC}" destId="{6E32D9BC-2BF7-441A-8B7F-BB827D98419A}" srcOrd="2" destOrd="0" parTransId="{13760D25-42CF-4F72-BEA0-A0E6B0B8E4E7}" sibTransId="{E42646E3-593E-4152-A2E7-CF34882F49F1}"/>
    <dgm:cxn modelId="{CE0EACE3-9BC3-4E8F-A81A-19E1EC58A216}" srcId="{17600853-B208-49E3-9375-21DB38C77ECC}" destId="{CCC7B0B1-3312-41E8-AC13-3EF7410D0AF0}" srcOrd="1" destOrd="0" parTransId="{FFEECBBC-390F-4DF5-933A-230582E0F4A2}" sibTransId="{45D03BA3-3F34-4E03-862F-8796C006099F}"/>
    <dgm:cxn modelId="{2EA00FF8-B6A3-46FB-9C44-3C89E9A71011}" type="presOf" srcId="{CCC7B0B1-3312-41E8-AC13-3EF7410D0AF0}" destId="{9255950C-F8D2-4CD2-9DEC-83E0E75BE5B1}" srcOrd="0" destOrd="0" presId="urn:microsoft.com/office/officeart/2018/2/layout/IconVerticalSolidList"/>
    <dgm:cxn modelId="{BED9C9A2-A3AE-467C-831D-3D725D427C3A}" type="presParOf" srcId="{020CD623-0708-4155-A4A4-8F3096F21814}" destId="{304F21AF-209E-4F48-B4C1-5654814D2722}" srcOrd="0" destOrd="0" presId="urn:microsoft.com/office/officeart/2018/2/layout/IconVerticalSolidList"/>
    <dgm:cxn modelId="{6C4106AD-D2B8-4220-9C80-A4DD78F4EBED}" type="presParOf" srcId="{304F21AF-209E-4F48-B4C1-5654814D2722}" destId="{2D0D2993-7684-4B0C-84B3-31EA269C5C14}" srcOrd="0" destOrd="0" presId="urn:microsoft.com/office/officeart/2018/2/layout/IconVerticalSolidList"/>
    <dgm:cxn modelId="{98265201-FE0F-43E6-84FA-3924ABDAC80F}" type="presParOf" srcId="{304F21AF-209E-4F48-B4C1-5654814D2722}" destId="{BC09B09A-BD6C-4A30-9A8A-36E9C352BC84}" srcOrd="1" destOrd="0" presId="urn:microsoft.com/office/officeart/2018/2/layout/IconVerticalSolidList"/>
    <dgm:cxn modelId="{08508A5D-9A0F-41CE-BE63-9F6FCB01BC3E}" type="presParOf" srcId="{304F21AF-209E-4F48-B4C1-5654814D2722}" destId="{02ADFC92-555D-4CA7-88DA-36EF02421CC2}" srcOrd="2" destOrd="0" presId="urn:microsoft.com/office/officeart/2018/2/layout/IconVerticalSolidList"/>
    <dgm:cxn modelId="{D3FEB825-3BA0-4970-BE9A-1A591F6E25F9}" type="presParOf" srcId="{304F21AF-209E-4F48-B4C1-5654814D2722}" destId="{814C6FC4-261E-46A2-89A4-72A970F955DE}" srcOrd="3" destOrd="0" presId="urn:microsoft.com/office/officeart/2018/2/layout/IconVerticalSolidList"/>
    <dgm:cxn modelId="{F570EBCA-EA68-45F9-A7A9-5AEA53BF31A2}" type="presParOf" srcId="{020CD623-0708-4155-A4A4-8F3096F21814}" destId="{CE44190D-E621-4D6A-9326-CBA8D396EE33}" srcOrd="1" destOrd="0" presId="urn:microsoft.com/office/officeart/2018/2/layout/IconVerticalSolidList"/>
    <dgm:cxn modelId="{2D697E43-EFCA-420A-9CD3-DE80000CB29A}" type="presParOf" srcId="{020CD623-0708-4155-A4A4-8F3096F21814}" destId="{A3C21AFE-1376-4F69-B575-C8F0723AAEC2}" srcOrd="2" destOrd="0" presId="urn:microsoft.com/office/officeart/2018/2/layout/IconVerticalSolidList"/>
    <dgm:cxn modelId="{8DFDBC64-0352-4469-A882-887D38722DC6}" type="presParOf" srcId="{A3C21AFE-1376-4F69-B575-C8F0723AAEC2}" destId="{CDB31394-46C3-4A9E-889C-921145B26887}" srcOrd="0" destOrd="0" presId="urn:microsoft.com/office/officeart/2018/2/layout/IconVerticalSolidList"/>
    <dgm:cxn modelId="{461A024E-1E6B-491A-820E-4D46541C8354}" type="presParOf" srcId="{A3C21AFE-1376-4F69-B575-C8F0723AAEC2}" destId="{A8926530-2EA9-40AA-A644-063788640E76}" srcOrd="1" destOrd="0" presId="urn:microsoft.com/office/officeart/2018/2/layout/IconVerticalSolidList"/>
    <dgm:cxn modelId="{E42B0A05-B2A4-468B-84B4-75D3803698AF}" type="presParOf" srcId="{A3C21AFE-1376-4F69-B575-C8F0723AAEC2}" destId="{A5415B22-A535-4E89-8C0B-AF77079CFC0D}" srcOrd="2" destOrd="0" presId="urn:microsoft.com/office/officeart/2018/2/layout/IconVerticalSolidList"/>
    <dgm:cxn modelId="{4478ABEB-D246-4E12-83B3-0611710A5161}" type="presParOf" srcId="{A3C21AFE-1376-4F69-B575-C8F0723AAEC2}" destId="{9255950C-F8D2-4CD2-9DEC-83E0E75BE5B1}" srcOrd="3" destOrd="0" presId="urn:microsoft.com/office/officeart/2018/2/layout/IconVerticalSolidList"/>
    <dgm:cxn modelId="{F624330B-87F6-4981-A5AB-97AAB3E72575}" type="presParOf" srcId="{020CD623-0708-4155-A4A4-8F3096F21814}" destId="{2B92DFD1-9E78-47EE-A0BB-06702291E0A9}" srcOrd="3" destOrd="0" presId="urn:microsoft.com/office/officeart/2018/2/layout/IconVerticalSolidList"/>
    <dgm:cxn modelId="{4DA02656-CE64-4916-9B24-B7ED36B5C670}" type="presParOf" srcId="{020CD623-0708-4155-A4A4-8F3096F21814}" destId="{53453ED4-D568-466A-8A48-845895AB2CB6}" srcOrd="4" destOrd="0" presId="urn:microsoft.com/office/officeart/2018/2/layout/IconVerticalSolidList"/>
    <dgm:cxn modelId="{35ED6751-4239-4495-98C4-C6115B133C82}" type="presParOf" srcId="{53453ED4-D568-466A-8A48-845895AB2CB6}" destId="{C65E721A-3AC6-4E98-84D1-0BA2AAD97D92}" srcOrd="0" destOrd="0" presId="urn:microsoft.com/office/officeart/2018/2/layout/IconVerticalSolidList"/>
    <dgm:cxn modelId="{D45FF3C5-39F4-4A09-A5FB-E643A7C97BB0}" type="presParOf" srcId="{53453ED4-D568-466A-8A48-845895AB2CB6}" destId="{4950CA22-6607-4BAB-9A58-1873FCAC56E7}" srcOrd="1" destOrd="0" presId="urn:microsoft.com/office/officeart/2018/2/layout/IconVerticalSolidList"/>
    <dgm:cxn modelId="{AE281158-2A5A-443B-B043-E14F5BD0FE56}" type="presParOf" srcId="{53453ED4-D568-466A-8A48-845895AB2CB6}" destId="{39B5A7C8-400E-4A7E-AD37-354939BABF42}" srcOrd="2" destOrd="0" presId="urn:microsoft.com/office/officeart/2018/2/layout/IconVerticalSolidList"/>
    <dgm:cxn modelId="{D42A75EB-3432-4B8D-A695-B849AF582EB4}" type="presParOf" srcId="{53453ED4-D568-466A-8A48-845895AB2CB6}" destId="{6B7D0BE7-3768-4A7C-AB61-AA3BF78630A4}" srcOrd="3" destOrd="0" presId="urn:microsoft.com/office/officeart/2018/2/layout/IconVerticalSolidList"/>
    <dgm:cxn modelId="{DB2D51C2-5CDD-43B2-81BC-EB2B65755BFD}" type="presParOf" srcId="{020CD623-0708-4155-A4A4-8F3096F21814}" destId="{E915FF6B-AA31-4B6C-8AA2-F9CDE6D50388}" srcOrd="5" destOrd="0" presId="urn:microsoft.com/office/officeart/2018/2/layout/IconVerticalSolidList"/>
    <dgm:cxn modelId="{288D5BA5-0A3F-43BD-BC54-D88C22837C3A}" type="presParOf" srcId="{020CD623-0708-4155-A4A4-8F3096F21814}" destId="{7C22D40F-9BE7-4B4A-A1AD-2AC73CE68495}" srcOrd="6" destOrd="0" presId="urn:microsoft.com/office/officeart/2018/2/layout/IconVerticalSolidList"/>
    <dgm:cxn modelId="{2519EE55-FED9-4043-9243-ED94D4AC325B}" type="presParOf" srcId="{7C22D40F-9BE7-4B4A-A1AD-2AC73CE68495}" destId="{0A5C5BFF-E8F8-49E6-9E90-DCB189BCEB27}" srcOrd="0" destOrd="0" presId="urn:microsoft.com/office/officeart/2018/2/layout/IconVerticalSolidList"/>
    <dgm:cxn modelId="{EDF1A646-FE62-413D-93EC-F79F01223A1E}" type="presParOf" srcId="{7C22D40F-9BE7-4B4A-A1AD-2AC73CE68495}" destId="{93622367-4494-4BCF-B958-9B08806AF694}" srcOrd="1" destOrd="0" presId="urn:microsoft.com/office/officeart/2018/2/layout/IconVerticalSolidList"/>
    <dgm:cxn modelId="{24974010-944B-45CE-BA0A-46E7EA854B61}" type="presParOf" srcId="{7C22D40F-9BE7-4B4A-A1AD-2AC73CE68495}" destId="{747928FD-EBB1-4EEB-A716-64E529A76D1A}" srcOrd="2" destOrd="0" presId="urn:microsoft.com/office/officeart/2018/2/layout/IconVerticalSolidList"/>
    <dgm:cxn modelId="{7936FD8F-6E30-4B2B-8EB3-2205C40DBCDF}" type="presParOf" srcId="{7C22D40F-9BE7-4B4A-A1AD-2AC73CE68495}" destId="{C771A25A-3B32-470F-ABDF-7A6492D0819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1DE79-F696-4E9D-BF3C-4264AE019C27}">
      <dsp:nvSpPr>
        <dsp:cNvPr id="0" name=""/>
        <dsp:cNvSpPr/>
      </dsp:nvSpPr>
      <dsp:spPr>
        <a:xfrm>
          <a:off x="0" y="0"/>
          <a:ext cx="65944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0D4CF-9F75-4B19-9562-315A9342A19F}">
      <dsp:nvSpPr>
        <dsp:cNvPr id="0" name=""/>
        <dsp:cNvSpPr/>
      </dsp:nvSpPr>
      <dsp:spPr>
        <a:xfrm>
          <a:off x="0" y="0"/>
          <a:ext cx="6594490" cy="1291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noProof="0" dirty="0"/>
            <a:t>P2P protocol for managing neighbourhoods in a dynamic network</a:t>
          </a:r>
        </a:p>
      </dsp:txBody>
      <dsp:txXfrm>
        <a:off x="0" y="0"/>
        <a:ext cx="6594490" cy="1291589"/>
      </dsp:txXfrm>
    </dsp:sp>
    <dsp:sp modelId="{D9DEE20D-5D44-4CC6-82CC-CA8D32379AF1}">
      <dsp:nvSpPr>
        <dsp:cNvPr id="0" name=""/>
        <dsp:cNvSpPr/>
      </dsp:nvSpPr>
      <dsp:spPr>
        <a:xfrm>
          <a:off x="0" y="1291589"/>
          <a:ext cx="65944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67E103-08E8-412C-B1A5-7B3FBA5711E1}">
      <dsp:nvSpPr>
        <dsp:cNvPr id="0" name=""/>
        <dsp:cNvSpPr/>
      </dsp:nvSpPr>
      <dsp:spPr>
        <a:xfrm>
          <a:off x="0" y="1291589"/>
          <a:ext cx="6594490" cy="1291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noProof="0" dirty="0"/>
            <a:t>list of peers is </a:t>
          </a:r>
          <a:r>
            <a:rPr lang="en-GB" sz="2600" kern="1200" noProof="0" dirty="0" err="1"/>
            <a:t>devided</a:t>
          </a:r>
          <a:r>
            <a:rPr lang="en-GB" sz="2600" kern="1200" noProof="0" dirty="0"/>
            <a:t> into subsets: active view and passive view</a:t>
          </a:r>
        </a:p>
      </dsp:txBody>
      <dsp:txXfrm>
        <a:off x="0" y="1291589"/>
        <a:ext cx="6594490" cy="1291589"/>
      </dsp:txXfrm>
    </dsp:sp>
    <dsp:sp modelId="{1BF416C4-107D-4547-A5E4-D7DCC4E6E3D2}">
      <dsp:nvSpPr>
        <dsp:cNvPr id="0" name=""/>
        <dsp:cNvSpPr/>
      </dsp:nvSpPr>
      <dsp:spPr>
        <a:xfrm>
          <a:off x="0" y="2583179"/>
          <a:ext cx="65944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7646D-A802-4E41-A6CF-FF5FEAD5D141}">
      <dsp:nvSpPr>
        <dsp:cNvPr id="0" name=""/>
        <dsp:cNvSpPr/>
      </dsp:nvSpPr>
      <dsp:spPr>
        <a:xfrm>
          <a:off x="0" y="2583179"/>
          <a:ext cx="6594490" cy="1291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noProof="0" dirty="0"/>
            <a:t>regularly checks active neighbours and replaces from passive list if no longer active</a:t>
          </a:r>
        </a:p>
      </dsp:txBody>
      <dsp:txXfrm>
        <a:off x="0" y="2583179"/>
        <a:ext cx="6594490" cy="1291589"/>
      </dsp:txXfrm>
    </dsp:sp>
    <dsp:sp modelId="{31DEE9E0-B3F7-4BAE-B36D-65A38ADEBE04}">
      <dsp:nvSpPr>
        <dsp:cNvPr id="0" name=""/>
        <dsp:cNvSpPr/>
      </dsp:nvSpPr>
      <dsp:spPr>
        <a:xfrm>
          <a:off x="0" y="3874769"/>
          <a:ext cx="65944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3F43C-DE13-44F6-9BBF-9C19B532277A}">
      <dsp:nvSpPr>
        <dsp:cNvPr id="0" name=""/>
        <dsp:cNvSpPr/>
      </dsp:nvSpPr>
      <dsp:spPr>
        <a:xfrm>
          <a:off x="0" y="3874769"/>
          <a:ext cx="6594490" cy="1291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noProof="0" dirty="0"/>
            <a:t>peers randomly exchange entries from their passive views</a:t>
          </a:r>
        </a:p>
      </dsp:txBody>
      <dsp:txXfrm>
        <a:off x="0" y="3874769"/>
        <a:ext cx="6594490" cy="12915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D6CAF5-E105-4FEA-8997-8162DC4912D1}">
      <dsp:nvSpPr>
        <dsp:cNvPr id="0" name=""/>
        <dsp:cNvSpPr/>
      </dsp:nvSpPr>
      <dsp:spPr>
        <a:xfrm>
          <a:off x="0" y="444779"/>
          <a:ext cx="6594490" cy="159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806" tIns="458216" rIns="51180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b="1" kern="1200" noProof="0" dirty="0">
              <a:solidFill>
                <a:schemeClr val="tx1"/>
              </a:solidFill>
            </a:rPr>
            <a:t>eager peers:</a:t>
          </a:r>
          <a:r>
            <a:rPr lang="en-GB" sz="2200" kern="1200" noProof="0" dirty="0">
              <a:solidFill>
                <a:schemeClr val="tx1"/>
              </a:solidFill>
            </a:rPr>
            <a:t> </a:t>
          </a:r>
          <a:r>
            <a:rPr lang="en-GB" sz="2200" kern="1200" noProof="0" dirty="0"/>
            <a:t>receive message immediately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b="1" kern="1200" noProof="0" dirty="0">
              <a:solidFill>
                <a:schemeClr val="tx1"/>
              </a:solidFill>
            </a:rPr>
            <a:t>lazy peers: </a:t>
          </a:r>
          <a:r>
            <a:rPr lang="en-GB" sz="2200" kern="1200" noProof="0" dirty="0"/>
            <a:t>only receive hash of the message</a:t>
          </a:r>
        </a:p>
      </dsp:txBody>
      <dsp:txXfrm>
        <a:off x="0" y="444779"/>
        <a:ext cx="6594490" cy="1593900"/>
      </dsp:txXfrm>
    </dsp:sp>
    <dsp:sp modelId="{A03BAE0B-6C95-41A9-A469-0DC6D33BF839}">
      <dsp:nvSpPr>
        <dsp:cNvPr id="0" name=""/>
        <dsp:cNvSpPr/>
      </dsp:nvSpPr>
      <dsp:spPr>
        <a:xfrm>
          <a:off x="329724" y="120059"/>
          <a:ext cx="4616143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79" tIns="0" rIns="17447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tow groups of neighbours:</a:t>
          </a:r>
        </a:p>
      </dsp:txBody>
      <dsp:txXfrm>
        <a:off x="361427" y="151762"/>
        <a:ext cx="4552737" cy="586034"/>
      </dsp:txXfrm>
    </dsp:sp>
    <dsp:sp modelId="{2657F6B5-7A03-418D-9E28-3D668979C1FD}">
      <dsp:nvSpPr>
        <dsp:cNvPr id="0" name=""/>
        <dsp:cNvSpPr/>
      </dsp:nvSpPr>
      <dsp:spPr>
        <a:xfrm>
          <a:off x="0" y="2482200"/>
          <a:ext cx="6594490" cy="25640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806" tIns="458216" rIns="51180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b="1" kern="1200" noProof="0" dirty="0">
              <a:solidFill>
                <a:schemeClr val="tx1"/>
              </a:solidFill>
            </a:rPr>
            <a:t>high reliability: </a:t>
          </a:r>
          <a:r>
            <a:rPr lang="en-GB" sz="2200" kern="1200" noProof="0" dirty="0"/>
            <a:t>every node ultimately receives every message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b="1" kern="1200" noProof="0" dirty="0">
              <a:solidFill>
                <a:schemeClr val="tx1"/>
              </a:solidFill>
            </a:rPr>
            <a:t>efficiency:</a:t>
          </a:r>
          <a:r>
            <a:rPr lang="en-GB" sz="2200" kern="1200" noProof="0" dirty="0"/>
            <a:t> only a few messages contain the full content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b="1" kern="1200" noProof="0" dirty="0">
              <a:solidFill>
                <a:schemeClr val="tx1"/>
              </a:solidFill>
            </a:rPr>
            <a:t>self-optimising:</a:t>
          </a:r>
          <a:r>
            <a:rPr lang="en-GB" sz="2200" kern="1200" noProof="0" dirty="0">
              <a:solidFill>
                <a:schemeClr val="tx1"/>
              </a:solidFill>
            </a:rPr>
            <a:t> </a:t>
          </a:r>
          <a:r>
            <a:rPr lang="en-GB" sz="2200" kern="1200" noProof="0" dirty="0"/>
            <a:t>paths with low latency are used preferentially</a:t>
          </a:r>
        </a:p>
      </dsp:txBody>
      <dsp:txXfrm>
        <a:off x="0" y="2482200"/>
        <a:ext cx="6594490" cy="2564099"/>
      </dsp:txXfrm>
    </dsp:sp>
    <dsp:sp modelId="{2FC50667-8A22-4FD8-B782-9BB2F0F54C66}">
      <dsp:nvSpPr>
        <dsp:cNvPr id="0" name=""/>
        <dsp:cNvSpPr/>
      </dsp:nvSpPr>
      <dsp:spPr>
        <a:xfrm>
          <a:off x="329724" y="2157479"/>
          <a:ext cx="4616143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79" tIns="0" rIns="17447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advantages:</a:t>
          </a:r>
        </a:p>
      </dsp:txBody>
      <dsp:txXfrm>
        <a:off x="361427" y="2189182"/>
        <a:ext cx="4552737" cy="586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D6CAF5-E105-4FEA-8997-8162DC4912D1}">
      <dsp:nvSpPr>
        <dsp:cNvPr id="0" name=""/>
        <dsp:cNvSpPr/>
      </dsp:nvSpPr>
      <dsp:spPr>
        <a:xfrm>
          <a:off x="0" y="382814"/>
          <a:ext cx="6594490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806" tIns="374904" rIns="51180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resolving </a:t>
          </a:r>
          <a:r>
            <a:rPr lang="en-GB" sz="1800" kern="1200" noProof="0" dirty="0" err="1"/>
            <a:t>NodeIDs</a:t>
          </a:r>
          <a:r>
            <a:rPr lang="en-GB" sz="1800" kern="1200" noProof="0" dirty="0"/>
            <a:t> to </a:t>
          </a:r>
          <a:r>
            <a:rPr lang="en-GB" sz="1800" kern="1200" noProof="0" dirty="0" err="1"/>
            <a:t>IP:port</a:t>
          </a:r>
          <a:r>
            <a:rPr lang="en-GB" sz="1800" kern="1200" noProof="0" dirty="0"/>
            <a:t> via </a:t>
          </a:r>
          <a:r>
            <a:rPr lang="en-GB" sz="1800" b="1" kern="1200" noProof="0" dirty="0" err="1"/>
            <a:t>mDNS</a:t>
          </a:r>
          <a:endParaRPr lang="en-GB" sz="1800" b="1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useful in small local networks</a:t>
          </a:r>
        </a:p>
      </dsp:txBody>
      <dsp:txXfrm>
        <a:off x="0" y="382814"/>
        <a:ext cx="6594490" cy="1048950"/>
      </dsp:txXfrm>
    </dsp:sp>
    <dsp:sp modelId="{A03BAE0B-6C95-41A9-A469-0DC6D33BF839}">
      <dsp:nvSpPr>
        <dsp:cNvPr id="0" name=""/>
        <dsp:cNvSpPr/>
      </dsp:nvSpPr>
      <dsp:spPr>
        <a:xfrm>
          <a:off x="329724" y="117134"/>
          <a:ext cx="4616143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79" tIns="0" rIns="17447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 dirty="0"/>
            <a:t>Direct</a:t>
          </a:r>
        </a:p>
      </dsp:txBody>
      <dsp:txXfrm>
        <a:off x="355663" y="143073"/>
        <a:ext cx="4564265" cy="479482"/>
      </dsp:txXfrm>
    </dsp:sp>
    <dsp:sp modelId="{2657F6B5-7A03-418D-9E28-3D668979C1FD}">
      <dsp:nvSpPr>
        <dsp:cNvPr id="0" name=""/>
        <dsp:cNvSpPr/>
      </dsp:nvSpPr>
      <dsp:spPr>
        <a:xfrm>
          <a:off x="0" y="1794644"/>
          <a:ext cx="6594490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806" tIns="374904" rIns="51180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resolving </a:t>
          </a:r>
          <a:r>
            <a:rPr lang="en-GB" sz="1800" kern="1200" noProof="0" dirty="0" err="1"/>
            <a:t>NodeIDs</a:t>
          </a:r>
          <a:r>
            <a:rPr lang="en-GB" sz="1800" kern="1200" noProof="0" dirty="0"/>
            <a:t> to </a:t>
          </a:r>
          <a:r>
            <a:rPr lang="en-GB" sz="1800" kern="1200" noProof="0" dirty="0" err="1"/>
            <a:t>IP:port</a:t>
          </a:r>
          <a:r>
            <a:rPr lang="en-GB" sz="1800" kern="1200" noProof="0" dirty="0"/>
            <a:t> via </a:t>
          </a:r>
          <a:r>
            <a:rPr lang="en-GB" sz="1800" kern="1200" noProof="0" dirty="0" err="1"/>
            <a:t>iroh’s</a:t>
          </a:r>
          <a:r>
            <a:rPr lang="en-GB" sz="1800" kern="1200" noProof="0" dirty="0"/>
            <a:t> public </a:t>
          </a:r>
          <a:r>
            <a:rPr lang="en-GB" sz="1800" b="1" kern="1200" noProof="0" dirty="0"/>
            <a:t>n0 DNS server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more reliable peer discovery in big and non-local networks</a:t>
          </a:r>
        </a:p>
      </dsp:txBody>
      <dsp:txXfrm>
        <a:off x="0" y="1794644"/>
        <a:ext cx="6594490" cy="1559250"/>
      </dsp:txXfrm>
    </dsp:sp>
    <dsp:sp modelId="{2FC50667-8A22-4FD8-B782-9BB2F0F54C66}">
      <dsp:nvSpPr>
        <dsp:cNvPr id="0" name=""/>
        <dsp:cNvSpPr/>
      </dsp:nvSpPr>
      <dsp:spPr>
        <a:xfrm>
          <a:off x="329724" y="1528964"/>
          <a:ext cx="4616143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79" tIns="0" rIns="17447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 dirty="0"/>
            <a:t>Relay</a:t>
          </a:r>
        </a:p>
      </dsp:txBody>
      <dsp:txXfrm>
        <a:off x="355663" y="1554903"/>
        <a:ext cx="4564265" cy="479482"/>
      </dsp:txXfrm>
    </dsp:sp>
    <dsp:sp modelId="{4A788221-5012-4586-BA92-2D982D1EF78C}">
      <dsp:nvSpPr>
        <dsp:cNvPr id="0" name=""/>
        <dsp:cNvSpPr/>
      </dsp:nvSpPr>
      <dsp:spPr>
        <a:xfrm>
          <a:off x="0" y="3716775"/>
          <a:ext cx="6594490" cy="1332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806" tIns="374904" rIns="51180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method to join a gossip topic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always takes </a:t>
          </a:r>
          <a:r>
            <a:rPr lang="en-GB" sz="1800" kern="1200" noProof="0" dirty="0" err="1"/>
            <a:t>NodeID</a:t>
          </a:r>
          <a:r>
            <a:rPr lang="en-GB" sz="1800" kern="1200" noProof="0" dirty="0"/>
            <a:t>(s) as argument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noProof="0" dirty="0"/>
            <a:t>at least one </a:t>
          </a:r>
          <a:r>
            <a:rPr lang="en-GB" sz="1800" b="1" kern="1200" noProof="0" dirty="0"/>
            <a:t>bootstrap </a:t>
          </a:r>
          <a:r>
            <a:rPr lang="en-GB" sz="1800" b="1" kern="1200" noProof="0" dirty="0" err="1"/>
            <a:t>NodeID</a:t>
          </a:r>
          <a:r>
            <a:rPr lang="en-GB" sz="1800" b="1" kern="1200" noProof="0" dirty="0"/>
            <a:t> </a:t>
          </a:r>
          <a:r>
            <a:rPr lang="en-GB" sz="1800" kern="1200" noProof="0" dirty="0"/>
            <a:t>has to be known</a:t>
          </a:r>
        </a:p>
      </dsp:txBody>
      <dsp:txXfrm>
        <a:off x="0" y="3716775"/>
        <a:ext cx="6594490" cy="1332450"/>
      </dsp:txXfrm>
    </dsp:sp>
    <dsp:sp modelId="{40DBFA34-6B32-48F7-8547-8A311D2549C1}">
      <dsp:nvSpPr>
        <dsp:cNvPr id="0" name=""/>
        <dsp:cNvSpPr/>
      </dsp:nvSpPr>
      <dsp:spPr>
        <a:xfrm>
          <a:off x="329724" y="3451095"/>
          <a:ext cx="4616143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79" tIns="0" rIns="17447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 dirty="0" err="1"/>
            <a:t>subscribe_and_join</a:t>
          </a:r>
          <a:r>
            <a:rPr lang="en-GB" sz="1800" kern="1200" noProof="0" dirty="0"/>
            <a:t>(</a:t>
          </a:r>
          <a:r>
            <a:rPr lang="en-GB" sz="1800" kern="1200" noProof="0" dirty="0" err="1"/>
            <a:t>TopicId</a:t>
          </a:r>
          <a:r>
            <a:rPr lang="en-GB" sz="1800" kern="1200" noProof="0" dirty="0"/>
            <a:t>, Vec&lt;</a:t>
          </a:r>
          <a:r>
            <a:rPr lang="en-GB" sz="1800" kern="1200" noProof="0" dirty="0" err="1"/>
            <a:t>NodeId</a:t>
          </a:r>
          <a:r>
            <a:rPr lang="en-GB" sz="1800" kern="1200" noProof="0" dirty="0"/>
            <a:t>&gt;)</a:t>
          </a:r>
        </a:p>
      </dsp:txBody>
      <dsp:txXfrm>
        <a:off x="355663" y="3477034"/>
        <a:ext cx="4564265" cy="479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D2993-7684-4B0C-84B3-31EA269C5C14}">
      <dsp:nvSpPr>
        <dsp:cNvPr id="0" name=""/>
        <dsp:cNvSpPr/>
      </dsp:nvSpPr>
      <dsp:spPr>
        <a:xfrm>
          <a:off x="0" y="2144"/>
          <a:ext cx="6594490" cy="1086751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9B09A-BD6C-4A30-9A8A-36E9C352BC84}">
      <dsp:nvSpPr>
        <dsp:cNvPr id="0" name=""/>
        <dsp:cNvSpPr/>
      </dsp:nvSpPr>
      <dsp:spPr>
        <a:xfrm>
          <a:off x="328742" y="246663"/>
          <a:ext cx="597713" cy="5977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C6FC4-261E-46A2-89A4-72A970F955DE}">
      <dsp:nvSpPr>
        <dsp:cNvPr id="0" name=""/>
        <dsp:cNvSpPr/>
      </dsp:nvSpPr>
      <dsp:spPr>
        <a:xfrm>
          <a:off x="1255198" y="2144"/>
          <a:ext cx="5339291" cy="108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15" tIns="115015" rIns="115015" bIns="11501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noProof="0" dirty="0">
              <a:solidFill>
                <a:schemeClr val="accent1"/>
              </a:solidFill>
            </a:rPr>
            <a:t>Possible questions to answer:</a:t>
          </a:r>
        </a:p>
      </dsp:txBody>
      <dsp:txXfrm>
        <a:off x="1255198" y="2144"/>
        <a:ext cx="5339291" cy="1086751"/>
      </dsp:txXfrm>
    </dsp:sp>
    <dsp:sp modelId="{CDB31394-46C3-4A9E-889C-921145B26887}">
      <dsp:nvSpPr>
        <dsp:cNvPr id="0" name=""/>
        <dsp:cNvSpPr/>
      </dsp:nvSpPr>
      <dsp:spPr>
        <a:xfrm>
          <a:off x="0" y="1360584"/>
          <a:ext cx="6594490" cy="10867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926530-2EA9-40AA-A644-063788640E76}">
      <dsp:nvSpPr>
        <dsp:cNvPr id="0" name=""/>
        <dsp:cNvSpPr/>
      </dsp:nvSpPr>
      <dsp:spPr>
        <a:xfrm>
          <a:off x="328742" y="1605103"/>
          <a:ext cx="597713" cy="5977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5950C-F8D2-4CD2-9DEC-83E0E75BE5B1}">
      <dsp:nvSpPr>
        <dsp:cNvPr id="0" name=""/>
        <dsp:cNvSpPr/>
      </dsp:nvSpPr>
      <dsp:spPr>
        <a:xfrm>
          <a:off x="1255198" y="1360584"/>
          <a:ext cx="5339291" cy="108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15" tIns="115015" rIns="115015" bIns="1150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How robust is the gossip against network failures, </a:t>
          </a:r>
          <a:r>
            <a:rPr lang="en-GB" sz="1900" kern="1200" noProof="0" dirty="0" err="1"/>
            <a:t>i</a:t>
          </a:r>
          <a:r>
            <a:rPr lang="en-GB" sz="1900" kern="1200" noProof="0" dirty="0"/>
            <a:t>. e. packet loss, latency, interruptions?</a:t>
          </a:r>
        </a:p>
      </dsp:txBody>
      <dsp:txXfrm>
        <a:off x="1255198" y="1360584"/>
        <a:ext cx="5339291" cy="1086751"/>
      </dsp:txXfrm>
    </dsp:sp>
    <dsp:sp modelId="{C65E721A-3AC6-4E98-84D1-0BA2AAD97D92}">
      <dsp:nvSpPr>
        <dsp:cNvPr id="0" name=""/>
        <dsp:cNvSpPr/>
      </dsp:nvSpPr>
      <dsp:spPr>
        <a:xfrm>
          <a:off x="0" y="2719023"/>
          <a:ext cx="6594490" cy="10867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50CA22-6607-4BAB-9A58-1873FCAC56E7}">
      <dsp:nvSpPr>
        <dsp:cNvPr id="0" name=""/>
        <dsp:cNvSpPr/>
      </dsp:nvSpPr>
      <dsp:spPr>
        <a:xfrm>
          <a:off x="328742" y="2963543"/>
          <a:ext cx="597713" cy="5977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D0BE7-3768-4A7C-AB61-AA3BF78630A4}">
      <dsp:nvSpPr>
        <dsp:cNvPr id="0" name=""/>
        <dsp:cNvSpPr/>
      </dsp:nvSpPr>
      <dsp:spPr>
        <a:xfrm>
          <a:off x="1255198" y="2719023"/>
          <a:ext cx="5339291" cy="108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15" tIns="115015" rIns="115015" bIns="1150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How much does discovery (direct vs. relay) affect delivery rates?</a:t>
          </a:r>
        </a:p>
      </dsp:txBody>
      <dsp:txXfrm>
        <a:off x="1255198" y="2719023"/>
        <a:ext cx="5339291" cy="1086751"/>
      </dsp:txXfrm>
    </dsp:sp>
    <dsp:sp modelId="{0A5C5BFF-E8F8-49E6-9E90-DCB189BCEB27}">
      <dsp:nvSpPr>
        <dsp:cNvPr id="0" name=""/>
        <dsp:cNvSpPr/>
      </dsp:nvSpPr>
      <dsp:spPr>
        <a:xfrm>
          <a:off x="0" y="4077463"/>
          <a:ext cx="6594490" cy="10867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22367-4494-4BCF-B958-9B08806AF694}">
      <dsp:nvSpPr>
        <dsp:cNvPr id="0" name=""/>
        <dsp:cNvSpPr/>
      </dsp:nvSpPr>
      <dsp:spPr>
        <a:xfrm>
          <a:off x="328742" y="4321983"/>
          <a:ext cx="597713" cy="5977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1A25A-3B32-470F-ABDF-7A6492D08194}">
      <dsp:nvSpPr>
        <dsp:cNvPr id="0" name=""/>
        <dsp:cNvSpPr/>
      </dsp:nvSpPr>
      <dsp:spPr>
        <a:xfrm>
          <a:off x="1255198" y="4077463"/>
          <a:ext cx="5339291" cy="108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15" tIns="115015" rIns="115015" bIns="1150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How does the system converge when peers fail or reconnect?</a:t>
          </a:r>
        </a:p>
      </dsp:txBody>
      <dsp:txXfrm>
        <a:off x="1255198" y="4077463"/>
        <a:ext cx="5339291" cy="10867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80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57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06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7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0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2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9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5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50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82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24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52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7.svg"/><Relationship Id="rId7" Type="http://schemas.openxmlformats.org/officeDocument/2006/relationships/diagramColors" Target="../diagrams/colors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FDAE9B-7650-A785-E629-18ED7A4C7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100" noProof="0" dirty="0"/>
              <a:t>Reliability Testing of </a:t>
            </a:r>
            <a:r>
              <a:rPr lang="en-GB" sz="4100" noProof="0" dirty="0" err="1">
                <a:solidFill>
                  <a:schemeClr val="accent1"/>
                </a:solidFill>
              </a:rPr>
              <a:t>iroh</a:t>
            </a:r>
            <a:r>
              <a:rPr lang="en-GB" sz="4100" noProof="0" dirty="0">
                <a:solidFill>
                  <a:schemeClr val="accent1"/>
                </a:solidFill>
              </a:rPr>
              <a:t>-gossip</a:t>
            </a:r>
            <a:r>
              <a:rPr lang="en-GB" sz="4100" noProof="0" dirty="0"/>
              <a:t> in Realistic Network Environments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A3EAF90-8495-F060-F4E1-30707645D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1100" noProof="0" dirty="0"/>
              <a:t>Andrea Seehuber</a:t>
            </a:r>
          </a:p>
          <a:p>
            <a:pPr>
              <a:lnSpc>
                <a:spcPct val="120000"/>
              </a:lnSpc>
            </a:pPr>
            <a:r>
              <a:rPr lang="en-GB" sz="1100" noProof="0" dirty="0"/>
              <a:t>New Trends for Local and Global Interconnects for P2P Applications</a:t>
            </a:r>
          </a:p>
          <a:p>
            <a:pPr>
              <a:lnSpc>
                <a:spcPct val="120000"/>
              </a:lnSpc>
            </a:pPr>
            <a:r>
              <a:rPr lang="en-GB" sz="1100" noProof="0" dirty="0"/>
              <a:t>University of Basel, 03.12.2025</a:t>
            </a:r>
          </a:p>
        </p:txBody>
      </p:sp>
      <p:pic>
        <p:nvPicPr>
          <p:cNvPr id="4" name="Picture 3" descr="Ein 3D-Muster von Ringformen, die mit Linien verbunden sind">
            <a:extLst>
              <a:ext uri="{FF2B5EF4-FFF2-40B4-BE49-F238E27FC236}">
                <a16:creationId xmlns:a16="http://schemas.microsoft.com/office/drawing/2014/main" id="{CA10D9A9-4B84-A98D-516C-DF6959CE25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14" r="37936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042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1F520-03A0-2579-A5E7-BA0E2E589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14893A30-0F4F-8307-2172-62C99C77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Recap: The </a:t>
            </a:r>
            <a:r>
              <a:rPr lang="en-GB" noProof="0" dirty="0" err="1"/>
              <a:t>iroh</a:t>
            </a:r>
            <a:r>
              <a:rPr lang="en-GB" noProof="0" dirty="0"/>
              <a:t>-gossip</a:t>
            </a:r>
          </a:p>
        </p:txBody>
      </p:sp>
      <p:graphicFrame>
        <p:nvGraphicFramePr>
          <p:cNvPr id="26" name="Inhaltsplatzhalter 12">
            <a:extLst>
              <a:ext uri="{FF2B5EF4-FFF2-40B4-BE49-F238E27FC236}">
                <a16:creationId xmlns:a16="http://schemas.microsoft.com/office/drawing/2014/main" id="{C8A08EDD-841D-A373-E30B-2EC758EE3B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0048662"/>
              </p:ext>
            </p:extLst>
          </p:nvPr>
        </p:nvGraphicFramePr>
        <p:xfrm>
          <a:off x="4936519" y="1031001"/>
          <a:ext cx="6594490" cy="5166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630A13-CFD6-E0B2-64D7-A6F3C88C3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b="1" noProof="0" dirty="0" err="1">
                <a:solidFill>
                  <a:schemeClr val="accent1"/>
                </a:solidFill>
              </a:rPr>
              <a:t>HyParView</a:t>
            </a:r>
            <a:r>
              <a:rPr lang="en-GB" sz="3200" b="1" noProof="0" dirty="0">
                <a:solidFill>
                  <a:schemeClr val="accent1"/>
                </a:solidFill>
              </a:rPr>
              <a:t> (Hybrid Partial View)</a:t>
            </a:r>
          </a:p>
        </p:txBody>
      </p:sp>
      <p:pic>
        <p:nvPicPr>
          <p:cNvPr id="1026" name="Picture 2" descr="HashiCorp's Link Checker · Actions · GitHub Marketplace · GitHub">
            <a:extLst>
              <a:ext uri="{FF2B5EF4-FFF2-40B4-BE49-F238E27FC236}">
                <a16:creationId xmlns:a16="http://schemas.microsoft.com/office/drawing/2014/main" id="{0EAA5D84-5E22-9BB1-76EC-23D8FBF02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554" y="4384720"/>
            <a:ext cx="1662447" cy="166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201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FF2F9-70DE-DAA9-1E01-C362B5B7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5518633B-B6BC-DEDF-6CCE-525A6F871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Recap: The </a:t>
            </a:r>
            <a:r>
              <a:rPr lang="en-GB" noProof="0" dirty="0" err="1"/>
              <a:t>iroh</a:t>
            </a:r>
            <a:r>
              <a:rPr lang="en-GB" noProof="0" dirty="0"/>
              <a:t>-gossip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AF03C3F-3425-CEED-78B1-955CA879A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b="1" noProof="0" dirty="0" err="1">
                <a:solidFill>
                  <a:schemeClr val="accent1"/>
                </a:solidFill>
              </a:rPr>
              <a:t>PlumTree</a:t>
            </a:r>
            <a:r>
              <a:rPr lang="en-GB" sz="2800" b="1" noProof="0" dirty="0">
                <a:solidFill>
                  <a:schemeClr val="accent1"/>
                </a:solidFill>
              </a:rPr>
              <a:t> (Push-Lazy-Update-Multicast)</a:t>
            </a:r>
          </a:p>
        </p:txBody>
      </p:sp>
      <p:pic>
        <p:nvPicPr>
          <p:cNvPr id="2050" name="Picture 2" descr="Ein Bild, das Kreis, Muster enthält.&#10;&#10;KI-generierte Inhalte können fehlerhaft sein.">
            <a:extLst>
              <a:ext uri="{FF2B5EF4-FFF2-40B4-BE49-F238E27FC236}">
                <a16:creationId xmlns:a16="http://schemas.microsoft.com/office/drawing/2014/main" id="{791CA586-7BC0-3954-92F7-B6C51A078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74" y="4342840"/>
            <a:ext cx="2226945" cy="1854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52" name="Inhaltsplatzhalter 2">
            <a:extLst>
              <a:ext uri="{FF2B5EF4-FFF2-40B4-BE49-F238E27FC236}">
                <a16:creationId xmlns:a16="http://schemas.microsoft.com/office/drawing/2014/main" id="{3E6E9861-0227-05A2-C05E-4455E784E9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595484"/>
              </p:ext>
            </p:extLst>
          </p:nvPr>
        </p:nvGraphicFramePr>
        <p:xfrm>
          <a:off x="4936519" y="1031001"/>
          <a:ext cx="6594490" cy="5166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249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33DD1-7D35-8088-0B40-B1473FA5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7904CD2B-23E0-1393-C362-7A196D9B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Recap: The </a:t>
            </a:r>
            <a:r>
              <a:rPr lang="en-GB" noProof="0" dirty="0" err="1"/>
              <a:t>iroh</a:t>
            </a:r>
            <a:r>
              <a:rPr lang="en-GB" noProof="0" dirty="0"/>
              <a:t>-gossip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3BB221-4752-7783-65C0-4D044C248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b="1" noProof="0" dirty="0">
                <a:solidFill>
                  <a:schemeClr val="accent1"/>
                </a:solidFill>
              </a:rPr>
              <a:t>Discovery</a:t>
            </a:r>
          </a:p>
        </p:txBody>
      </p:sp>
      <p:graphicFrame>
        <p:nvGraphicFramePr>
          <p:cNvPr id="2052" name="Inhaltsplatzhalter 2">
            <a:extLst>
              <a:ext uri="{FF2B5EF4-FFF2-40B4-BE49-F238E27FC236}">
                <a16:creationId xmlns:a16="http://schemas.microsoft.com/office/drawing/2014/main" id="{52D600F8-0A4B-71FF-F1B5-47D98D7C17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0317187"/>
              </p:ext>
            </p:extLst>
          </p:nvPr>
        </p:nvGraphicFramePr>
        <p:xfrm>
          <a:off x="4936519" y="1031001"/>
          <a:ext cx="6594490" cy="5166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fik 5" descr="Gruppe von Personen mit einfarbiger Füllung">
            <a:extLst>
              <a:ext uri="{FF2B5EF4-FFF2-40B4-BE49-F238E27FC236}">
                <a16:creationId xmlns:a16="http://schemas.microsoft.com/office/drawing/2014/main" id="{3F9FBA20-F0BF-48B5-97B7-DD953FADEC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5398" y="3977640"/>
            <a:ext cx="150876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77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F892-60C7-1694-0D88-FCC0A1074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A26A44D-CBDA-58BE-D715-DC27AC340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iroh</a:t>
            </a:r>
            <a:r>
              <a:rPr lang="en-GB" noProof="0" dirty="0"/>
              <a:t>-gossip testing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167F1B7-BA0C-E6F0-F6BC-A0ABF59EB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b="1" noProof="0" dirty="0">
                <a:solidFill>
                  <a:schemeClr val="accent1"/>
                </a:solidFill>
              </a:rPr>
              <a:t>What could be done?</a:t>
            </a:r>
          </a:p>
        </p:txBody>
      </p:sp>
      <p:pic>
        <p:nvPicPr>
          <p:cNvPr id="3" name="Grafik 2" descr="Glühbirne und Zahnrad mit einfarbiger Füllung">
            <a:extLst>
              <a:ext uri="{FF2B5EF4-FFF2-40B4-BE49-F238E27FC236}">
                <a16:creationId xmlns:a16="http://schemas.microsoft.com/office/drawing/2014/main" id="{1D93E0C6-4AF3-DD19-AFA5-9AEDDBC44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3775" y="3976352"/>
            <a:ext cx="1510048" cy="1510048"/>
          </a:xfrm>
          <a:prstGeom prst="rect">
            <a:avLst/>
          </a:prstGeom>
        </p:spPr>
      </p:pic>
      <p:graphicFrame>
        <p:nvGraphicFramePr>
          <p:cNvPr id="9" name="Inhaltsplatzhalter 6">
            <a:extLst>
              <a:ext uri="{FF2B5EF4-FFF2-40B4-BE49-F238E27FC236}">
                <a16:creationId xmlns:a16="http://schemas.microsoft.com/office/drawing/2014/main" id="{136DA213-C403-60BB-1FD2-93964A116A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2055324"/>
              </p:ext>
            </p:extLst>
          </p:nvPr>
        </p:nvGraphicFramePr>
        <p:xfrm>
          <a:off x="4936519" y="1031001"/>
          <a:ext cx="6594490" cy="5166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78378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66CF-2A6E-CA77-3B32-D5E3667A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9D840A0-C8E6-FEF3-7867-C4CB01C9C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iroh</a:t>
            </a:r>
            <a:r>
              <a:rPr lang="en-GB" noProof="0" dirty="0"/>
              <a:t>-gossip testing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AB2F553-5ED2-F12A-93F8-6B384E505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b="1" noProof="0" dirty="0">
                <a:solidFill>
                  <a:schemeClr val="accent1"/>
                </a:solidFill>
              </a:rPr>
              <a:t>What could be done?</a:t>
            </a:r>
          </a:p>
        </p:txBody>
      </p:sp>
      <p:pic>
        <p:nvPicPr>
          <p:cNvPr id="3" name="Grafik 2" descr="Glühbirne und Zahnrad mit einfarbiger Füllung">
            <a:extLst>
              <a:ext uri="{FF2B5EF4-FFF2-40B4-BE49-F238E27FC236}">
                <a16:creationId xmlns:a16="http://schemas.microsoft.com/office/drawing/2014/main" id="{C07A4385-5280-FD47-670E-75DE86EFF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3775" y="3976352"/>
            <a:ext cx="1510048" cy="1510048"/>
          </a:xfrm>
          <a:prstGeom prst="rect">
            <a:avLst/>
          </a:prstGeom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EFA0DAA-362B-C589-4FCF-DB5608741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3500" b="1" noProof="0" dirty="0">
                <a:solidFill>
                  <a:schemeClr val="accent1"/>
                </a:solidFill>
              </a:rPr>
              <a:t>Possible metrics: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b="1" noProof="0" dirty="0"/>
              <a:t>delivery ratio (DR): </a:t>
            </a:r>
            <a:r>
              <a:rPr lang="en-GB" sz="2400" noProof="0" dirty="0"/>
              <a:t>received vs. sent messages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b="1" noProof="0" dirty="0"/>
              <a:t>duplicate rate (</a:t>
            </a:r>
            <a:r>
              <a:rPr lang="en-GB" sz="2400" b="1" noProof="0" dirty="0" err="1"/>
              <a:t>DuR</a:t>
            </a:r>
            <a:r>
              <a:rPr lang="en-GB" sz="2400" b="1" noProof="0" dirty="0"/>
              <a:t>): </a:t>
            </a:r>
            <a:r>
              <a:rPr lang="en-GB" sz="2400" noProof="0" dirty="0"/>
              <a:t>unique received messages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b="1" noProof="0" dirty="0"/>
              <a:t>end-to-end-delay (E2E):</a:t>
            </a:r>
            <a:r>
              <a:rPr lang="en-GB" sz="2400" noProof="0" dirty="0"/>
              <a:t> average delivery time or per message received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b="1" noProof="0" dirty="0"/>
              <a:t>convergence time (CT): </a:t>
            </a:r>
            <a:r>
              <a:rPr lang="en-GB" sz="2400" noProof="0" dirty="0"/>
              <a:t>time until all peers receive all messages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b="1" noProof="0" dirty="0"/>
              <a:t>peer reachability (PR): </a:t>
            </a:r>
            <a:r>
              <a:rPr lang="en-GB" sz="2400" noProof="0" dirty="0"/>
              <a:t>reachable vs. connected peers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b="1" noProof="0" dirty="0"/>
              <a:t>reconnect time (RT): </a:t>
            </a:r>
            <a:r>
              <a:rPr lang="en-GB" sz="2400" noProof="0" dirty="0"/>
              <a:t>time until first received message after reconnect</a:t>
            </a:r>
          </a:p>
          <a:p>
            <a:pPr marL="0" indent="0">
              <a:buNone/>
            </a:pPr>
            <a:endParaRPr lang="en-GB" b="1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017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504E-057E-0C42-106A-385B5F38B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Zahnräder mit einfarbiger Füllung">
            <a:extLst>
              <a:ext uri="{FF2B5EF4-FFF2-40B4-BE49-F238E27FC236}">
                <a16:creationId xmlns:a16="http://schemas.microsoft.com/office/drawing/2014/main" id="{94139531-505F-804A-D7B0-5EA480D72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5398" y="3977640"/>
            <a:ext cx="1508760" cy="1508760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FDA304FE-8E73-3503-E272-FFD3A802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iroh</a:t>
            </a:r>
            <a:r>
              <a:rPr lang="en-GB" noProof="0" dirty="0"/>
              <a:t>-gossip testing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138EF9C-9FCD-BD07-4D13-C2A7A7653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b="1" noProof="0" dirty="0">
                <a:solidFill>
                  <a:schemeClr val="accent1"/>
                </a:solidFill>
              </a:rPr>
              <a:t>Setup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199D23F-D260-2643-22C2-481BAEBEA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49214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sz="5800" b="1" noProof="0" dirty="0">
                <a:solidFill>
                  <a:schemeClr val="accent1"/>
                </a:solidFill>
                <a:latin typeface="+mj-lt"/>
              </a:rPr>
              <a:t>Common for all use cases:</a:t>
            </a:r>
          </a:p>
          <a:p>
            <a:r>
              <a:rPr lang="en-GB" sz="2900" noProof="0" dirty="0"/>
              <a:t>each peer is simulated as an isolated </a:t>
            </a:r>
            <a:r>
              <a:rPr lang="en-GB" sz="2900" b="1" noProof="0" dirty="0"/>
              <a:t>Linux network namespace</a:t>
            </a:r>
          </a:p>
          <a:p>
            <a:r>
              <a:rPr lang="en-GB" sz="2900" noProof="0" dirty="0"/>
              <a:t>all peers are connected via a common </a:t>
            </a:r>
            <a:r>
              <a:rPr lang="en-GB" sz="2900" b="1" noProof="0" dirty="0"/>
              <a:t>virtual bridge </a:t>
            </a:r>
            <a:r>
              <a:rPr lang="en-GB" sz="2900" noProof="0" dirty="0"/>
              <a:t>(acts like a LAN switch)</a:t>
            </a:r>
          </a:p>
          <a:p>
            <a:r>
              <a:rPr lang="en-GB" sz="2900" b="1" noProof="0" dirty="0"/>
              <a:t>fixed parameters:</a:t>
            </a:r>
            <a:r>
              <a:rPr lang="en-GB" sz="2900" noProof="0" dirty="0"/>
              <a:t> </a:t>
            </a:r>
          </a:p>
          <a:p>
            <a:pPr lvl="1"/>
            <a:r>
              <a:rPr lang="en-GB" sz="2500" noProof="0" dirty="0"/>
              <a:t>2000 messages </a:t>
            </a:r>
          </a:p>
          <a:p>
            <a:pPr lvl="1"/>
            <a:r>
              <a:rPr lang="en-GB" sz="2500" noProof="0" dirty="0"/>
              <a:t>10 msg./s</a:t>
            </a:r>
          </a:p>
          <a:p>
            <a:pPr lvl="1"/>
            <a:r>
              <a:rPr lang="en-GB" sz="2500" noProof="0" dirty="0"/>
              <a:t>256 bytes/msg. </a:t>
            </a:r>
          </a:p>
          <a:p>
            <a:pPr lvl="1"/>
            <a:r>
              <a:rPr lang="en-GB" sz="2500" noProof="0" dirty="0"/>
              <a:t>10 repeats per test</a:t>
            </a:r>
          </a:p>
          <a:p>
            <a:r>
              <a:rPr lang="en-GB" sz="2900" b="1" noProof="0" dirty="0"/>
              <a:t>variable parameters: </a:t>
            </a:r>
          </a:p>
          <a:p>
            <a:pPr lvl="1"/>
            <a:r>
              <a:rPr lang="en-GB" sz="2500" noProof="0" dirty="0"/>
              <a:t>number of peers (10 – 50)</a:t>
            </a:r>
          </a:p>
          <a:p>
            <a:pPr lvl="1"/>
            <a:r>
              <a:rPr lang="en-GB" sz="2500" noProof="0" dirty="0"/>
              <a:t>number of bootstrap </a:t>
            </a:r>
            <a:r>
              <a:rPr lang="en-GB" sz="2500" noProof="0" dirty="0" err="1"/>
              <a:t>NodeIDs</a:t>
            </a:r>
            <a:r>
              <a:rPr lang="en-GB" sz="2500" noProof="0" dirty="0"/>
              <a:t>: either exactly 1 or 1 per 10 peers</a:t>
            </a:r>
          </a:p>
          <a:p>
            <a:r>
              <a:rPr lang="en-GB" sz="2900" noProof="0" dirty="0"/>
              <a:t>peer no. 1 acts as sender, all peers run a receiver process</a:t>
            </a:r>
          </a:p>
          <a:p>
            <a:r>
              <a:rPr lang="en-GB" sz="2900" noProof="0" dirty="0"/>
              <a:t>optional </a:t>
            </a:r>
            <a:r>
              <a:rPr lang="en-GB" sz="2900" b="1" noProof="0" dirty="0"/>
              <a:t>network impairments </a:t>
            </a:r>
            <a:r>
              <a:rPr lang="en-GB" sz="2900" noProof="0" dirty="0"/>
              <a:t>are applied through </a:t>
            </a:r>
            <a:r>
              <a:rPr lang="en-GB" sz="2900" b="1" noProof="0" dirty="0" err="1"/>
              <a:t>netem</a:t>
            </a:r>
            <a:r>
              <a:rPr lang="en-GB" sz="2900" noProof="0" dirty="0"/>
              <a:t> rules (delay, package loss)</a:t>
            </a:r>
          </a:p>
          <a:p>
            <a:r>
              <a:rPr lang="en-GB" sz="2900" noProof="0" dirty="0"/>
              <a:t>all test runs are orchestrated using a common Bash script</a:t>
            </a:r>
          </a:p>
        </p:txBody>
      </p:sp>
    </p:spTree>
    <p:extLst>
      <p:ext uri="{BB962C8B-B14F-4D97-AF65-F5344CB8AC3E}">
        <p14:creationId xmlns:p14="http://schemas.microsoft.com/office/powerpoint/2010/main" val="1030304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2BF6E-38C3-76D4-D744-E148AAB9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Zahnräder mit einfarbiger Füllung">
            <a:extLst>
              <a:ext uri="{FF2B5EF4-FFF2-40B4-BE49-F238E27FC236}">
                <a16:creationId xmlns:a16="http://schemas.microsoft.com/office/drawing/2014/main" id="{72EA6302-DE1F-1062-6ACA-F041E26B4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5398" y="3977640"/>
            <a:ext cx="1508760" cy="1508760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403C3E42-FF0D-3A0F-8DA0-DC277402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iroh</a:t>
            </a:r>
            <a:r>
              <a:rPr lang="en-GB" noProof="0" dirty="0"/>
              <a:t>-gossip testing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65A4D01-6BB4-F979-B128-CF5234604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b="1" noProof="0" dirty="0">
                <a:solidFill>
                  <a:schemeClr val="accent1"/>
                </a:solidFill>
              </a:rPr>
              <a:t>Setup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64B8749-A968-4A76-451E-6FBF301EF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3200" b="1" noProof="0" dirty="0">
                <a:solidFill>
                  <a:schemeClr val="accent1"/>
                </a:solidFill>
                <a:latin typeface="+mj-lt"/>
              </a:rPr>
              <a:t>Use case specific:</a:t>
            </a:r>
          </a:p>
          <a:p>
            <a:r>
              <a:rPr lang="en-GB" sz="1800" b="1" noProof="0" dirty="0"/>
              <a:t>Use Case 1/2:</a:t>
            </a:r>
          </a:p>
          <a:p>
            <a:pPr lvl="1"/>
            <a:r>
              <a:rPr lang="en-GB" sz="1400" noProof="0" dirty="0"/>
              <a:t>Discovery mode Direct/Relay</a:t>
            </a:r>
          </a:p>
          <a:p>
            <a:pPr lvl="1"/>
            <a:r>
              <a:rPr lang="en-GB" sz="1400" noProof="0" dirty="0"/>
              <a:t>no network impairments</a:t>
            </a:r>
          </a:p>
          <a:p>
            <a:r>
              <a:rPr lang="en-GB" sz="1800" b="1" noProof="0" dirty="0"/>
              <a:t>Use Case 3/4:</a:t>
            </a:r>
          </a:p>
          <a:p>
            <a:pPr lvl="1"/>
            <a:r>
              <a:rPr lang="en-GB" sz="1400" noProof="0" dirty="0"/>
              <a:t>Discovery mode Direct/Relay</a:t>
            </a:r>
          </a:p>
          <a:p>
            <a:pPr lvl="1"/>
            <a:r>
              <a:rPr lang="en-GB" sz="1400" noProof="0" dirty="0"/>
              <a:t>injection of 30 % package loss and 50 ± 5 </a:t>
            </a:r>
            <a:r>
              <a:rPr lang="en-GB" sz="1400" noProof="0" dirty="0" err="1"/>
              <a:t>ms</a:t>
            </a:r>
            <a:r>
              <a:rPr lang="en-GB" sz="1400" noProof="0" dirty="0"/>
              <a:t> delay per package</a:t>
            </a:r>
          </a:p>
          <a:p>
            <a:pPr lvl="1"/>
            <a:r>
              <a:rPr lang="en-GB" sz="1400" noProof="0" dirty="0"/>
              <a:t>peer no. 1 (sender) is not impaired to guarantee test reproducibility</a:t>
            </a:r>
          </a:p>
          <a:p>
            <a:r>
              <a:rPr lang="en-GB" sz="1800" b="1" noProof="0" dirty="0"/>
              <a:t>Use Case 5/6:</a:t>
            </a:r>
          </a:p>
          <a:p>
            <a:pPr lvl="1"/>
            <a:r>
              <a:rPr lang="en-GB" sz="1400" noProof="0" dirty="0"/>
              <a:t>Discovery mode Direct/Relay</a:t>
            </a:r>
          </a:p>
          <a:p>
            <a:pPr lvl="1"/>
            <a:r>
              <a:rPr lang="en-GB" sz="1400" noProof="0" dirty="0"/>
              <a:t>no network impairments</a:t>
            </a:r>
          </a:p>
          <a:p>
            <a:pPr lvl="1"/>
            <a:r>
              <a:rPr lang="en-GB" sz="1400" noProof="0" dirty="0"/>
              <a:t>half of the total peers is disconnected and reconnected after a given time interval</a:t>
            </a:r>
          </a:p>
          <a:p>
            <a:pPr lvl="1"/>
            <a:r>
              <a:rPr lang="en-GB" sz="1400" noProof="0" dirty="0"/>
              <a:t>random choice of disconnected peers</a:t>
            </a:r>
          </a:p>
          <a:p>
            <a:pPr lvl="1"/>
            <a:r>
              <a:rPr lang="en-GB" sz="1400" noProof="0" dirty="0"/>
              <a:t>bootstrap peer is never disconnected for test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3162443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3AB4-B66C-5F33-FBAA-8F751DEBD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Zahnräder mit einfarbiger Füllung">
            <a:extLst>
              <a:ext uri="{FF2B5EF4-FFF2-40B4-BE49-F238E27FC236}">
                <a16:creationId xmlns:a16="http://schemas.microsoft.com/office/drawing/2014/main" id="{79B30131-D097-359A-0986-4BAA234EF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5398" y="3977640"/>
            <a:ext cx="1508760" cy="1508760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6A26C846-312E-5A07-61BF-DD57C1EC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iroh</a:t>
            </a:r>
            <a:r>
              <a:rPr lang="en-GB" noProof="0" dirty="0"/>
              <a:t>-gossip testing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2F5540C-202C-03CC-F098-075AE3176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b="1" noProof="0" dirty="0">
                <a:solidFill>
                  <a:schemeClr val="accent1"/>
                </a:solidFill>
              </a:rPr>
              <a:t>Setup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4F01098-A473-75D5-1E36-59763515D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b="1" noProof="0" dirty="0">
                <a:solidFill>
                  <a:schemeClr val="accent1"/>
                </a:solidFill>
                <a:latin typeface="+mj-lt"/>
              </a:rPr>
              <a:t>Comments on setup design:</a:t>
            </a:r>
          </a:p>
          <a:p>
            <a:r>
              <a:rPr lang="en-GB" sz="1800" b="1" noProof="0" dirty="0" err="1"/>
              <a:t>HyParView</a:t>
            </a:r>
            <a:r>
              <a:rPr lang="en-GB" sz="1800" noProof="0" dirty="0"/>
              <a:t> periodically shuffles peers in the passive view:</a:t>
            </a:r>
          </a:p>
          <a:p>
            <a:pPr lvl="1"/>
            <a:r>
              <a:rPr lang="en-GB" sz="1400" noProof="0" dirty="0"/>
              <a:t>default shuffle interval: 60 s</a:t>
            </a:r>
          </a:p>
          <a:p>
            <a:pPr lvl="1"/>
            <a:r>
              <a:rPr lang="en-GB" sz="1400" noProof="0" dirty="0"/>
              <a:t>test parameters are chosen such that at least 3 shuffles can occur per run</a:t>
            </a:r>
            <a:endParaRPr lang="en-GB" sz="600" noProof="0" dirty="0"/>
          </a:p>
          <a:p>
            <a:r>
              <a:rPr lang="en-GB" sz="1800" b="1" noProof="0" dirty="0"/>
              <a:t>Join success </a:t>
            </a:r>
            <a:r>
              <a:rPr lang="en-GB" sz="1800" noProof="0" dirty="0"/>
              <a:t>in strongly depends on no. of peers and available bootstraps per test run: </a:t>
            </a:r>
          </a:p>
          <a:p>
            <a:pPr lvl="1"/>
            <a:r>
              <a:rPr lang="en-GB" sz="1400" noProof="0" dirty="0"/>
              <a:t>no. of peers is treated as both an input parameter and an observed metric</a:t>
            </a:r>
          </a:p>
          <a:p>
            <a:pPr lvl="1"/>
            <a:r>
              <a:rPr lang="en-GB" sz="1400" noProof="0" dirty="0"/>
              <a:t>join success is recorded explicitly as an additional metric</a:t>
            </a:r>
            <a:endParaRPr lang="en-GB" sz="1000" noProof="0" dirty="0"/>
          </a:p>
          <a:p>
            <a:r>
              <a:rPr lang="en-GB" sz="1800" b="1" noProof="0" dirty="0"/>
              <a:t>Discovery Direct </a:t>
            </a:r>
            <a:r>
              <a:rPr lang="en-GB" sz="1800" noProof="0" dirty="0"/>
              <a:t>test runs are sensitive to timing and </a:t>
            </a:r>
            <a:r>
              <a:rPr lang="en-GB" sz="1800" b="1" noProof="0" dirty="0"/>
              <a:t>do not tolerate sleeps</a:t>
            </a:r>
            <a:r>
              <a:rPr lang="en-GB" sz="1800" noProof="0" dirty="0"/>
              <a:t> in the Bash orchestration</a:t>
            </a:r>
          </a:p>
          <a:p>
            <a:r>
              <a:rPr lang="en-GB" sz="1800" b="1" noProof="0" dirty="0"/>
              <a:t>Discovery Relay </a:t>
            </a:r>
            <a:r>
              <a:rPr lang="en-GB" sz="1800" noProof="0" dirty="0"/>
              <a:t>test runs </a:t>
            </a:r>
            <a:r>
              <a:rPr lang="en-GB" sz="1800" b="1" noProof="0" dirty="0"/>
              <a:t>require delay </a:t>
            </a:r>
            <a:r>
              <a:rPr lang="en-GB" sz="1800" noProof="0" dirty="0"/>
              <a:t>between launching the receiver processes and starting the sender process</a:t>
            </a:r>
          </a:p>
        </p:txBody>
      </p:sp>
    </p:spTree>
    <p:extLst>
      <p:ext uri="{BB962C8B-B14F-4D97-AF65-F5344CB8AC3E}">
        <p14:creationId xmlns:p14="http://schemas.microsoft.com/office/powerpoint/2010/main" val="703144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68C5703-8C26-73C4-2355-3B9E1301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fail rate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ACF87E73-D38D-4FDD-62CD-D38BF9AE0541}"/>
              </a:ext>
            </a:extLst>
          </p:cNvPr>
          <p:cNvSpPr txBox="1"/>
          <p:nvPr/>
        </p:nvSpPr>
        <p:spPr>
          <a:xfrm>
            <a:off x="640080" y="2633236"/>
            <a:ext cx="4942912" cy="36669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GB" sz="2000" noProof="0" dirty="0"/>
              <a:t>test failed if sender didn‘t join topic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GB" sz="2000" noProof="0" dirty="0"/>
              <a:t>fail rate = no. failed runs / no. runs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GB" sz="2000" noProof="0" dirty="0"/>
              <a:t>UC1/UC3: </a:t>
            </a:r>
            <a:r>
              <a:rPr lang="en-GB" sz="2000" b="1" noProof="0" dirty="0"/>
              <a:t>Discovery Direct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GB" sz="2000" noProof="0" dirty="0"/>
              <a:t>UC2/UC4: </a:t>
            </a:r>
            <a:r>
              <a:rPr lang="en-GB" sz="2000" b="1" noProof="0" dirty="0"/>
              <a:t>Discovery Relay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GB" sz="2000" noProof="0" dirty="0"/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GB" sz="2000" b="1" noProof="0" dirty="0">
                <a:solidFill>
                  <a:schemeClr val="accent5"/>
                </a:solidFill>
              </a:rPr>
              <a:t>results for exactly 1 bootstrap </a:t>
            </a:r>
            <a:r>
              <a:rPr lang="en-GB" sz="2000" b="1" noProof="0" dirty="0" err="1">
                <a:solidFill>
                  <a:schemeClr val="accent5"/>
                </a:solidFill>
              </a:rPr>
              <a:t>NodeID</a:t>
            </a:r>
            <a:endParaRPr lang="en-GB" sz="2000" b="1" noProof="0" dirty="0">
              <a:solidFill>
                <a:schemeClr val="accent5"/>
              </a:solidFill>
            </a:endParaRP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GB" sz="2000" b="1" noProof="0" dirty="0">
                <a:solidFill>
                  <a:schemeClr val="accent5"/>
                </a:solidFill>
              </a:rPr>
              <a:t>timing problem in setup or Discovery-related?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GB" sz="2000" b="1" noProof="0" dirty="0">
                <a:solidFill>
                  <a:schemeClr val="accent5"/>
                </a:solidFill>
              </a:rPr>
              <a:t>more bootstrap </a:t>
            </a:r>
            <a:r>
              <a:rPr lang="en-GB" sz="2000" b="1" noProof="0" dirty="0" err="1">
                <a:solidFill>
                  <a:schemeClr val="accent5"/>
                </a:solidFill>
              </a:rPr>
              <a:t>NodeIDs</a:t>
            </a:r>
            <a:r>
              <a:rPr lang="en-GB" sz="2000" b="1" noProof="0" dirty="0">
                <a:solidFill>
                  <a:schemeClr val="accent5"/>
                </a:solidFill>
              </a:rPr>
              <a:t> needed?</a:t>
            </a:r>
          </a:p>
        </p:txBody>
      </p:sp>
      <p:graphicFrame>
        <p:nvGraphicFramePr>
          <p:cNvPr id="3" name="Inhaltsplatzhalter 2">
            <a:extLst>
              <a:ext uri="{FF2B5EF4-FFF2-40B4-BE49-F238E27FC236}">
                <a16:creationId xmlns:a16="http://schemas.microsoft.com/office/drawing/2014/main" id="{B1044817-4DFA-358C-F7E6-A926BB7584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4043"/>
              </p:ext>
            </p:extLst>
          </p:nvPr>
        </p:nvGraphicFramePr>
        <p:xfrm>
          <a:off x="5724659" y="2633236"/>
          <a:ext cx="5827262" cy="3621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066">
                  <a:extLst>
                    <a:ext uri="{9D8B030D-6E8A-4147-A177-3AD203B41FA5}">
                      <a16:colId xmlns:a16="http://schemas.microsoft.com/office/drawing/2014/main" val="3972473227"/>
                    </a:ext>
                  </a:extLst>
                </a:gridCol>
                <a:gridCol w="1205767">
                  <a:extLst>
                    <a:ext uri="{9D8B030D-6E8A-4147-A177-3AD203B41FA5}">
                      <a16:colId xmlns:a16="http://schemas.microsoft.com/office/drawing/2014/main" val="692590649"/>
                    </a:ext>
                  </a:extLst>
                </a:gridCol>
                <a:gridCol w="1114143">
                  <a:extLst>
                    <a:ext uri="{9D8B030D-6E8A-4147-A177-3AD203B41FA5}">
                      <a16:colId xmlns:a16="http://schemas.microsoft.com/office/drawing/2014/main" val="3727828754"/>
                    </a:ext>
                  </a:extLst>
                </a:gridCol>
                <a:gridCol w="1114143">
                  <a:extLst>
                    <a:ext uri="{9D8B030D-6E8A-4147-A177-3AD203B41FA5}">
                      <a16:colId xmlns:a16="http://schemas.microsoft.com/office/drawing/2014/main" val="3705715682"/>
                    </a:ext>
                  </a:extLst>
                </a:gridCol>
                <a:gridCol w="1114143">
                  <a:extLst>
                    <a:ext uri="{9D8B030D-6E8A-4147-A177-3AD203B41FA5}">
                      <a16:colId xmlns:a16="http://schemas.microsoft.com/office/drawing/2014/main" val="3271720053"/>
                    </a:ext>
                  </a:extLst>
                </a:gridCol>
              </a:tblGrid>
              <a:tr h="733158"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no. peers</a:t>
                      </a:r>
                    </a:p>
                  </a:txBody>
                  <a:tcPr marL="99075" marR="99075" marT="49538" marB="49538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UC1</a:t>
                      </a:r>
                    </a:p>
                  </a:txBody>
                  <a:tcPr marL="99075" marR="99075" marT="49538" marB="49538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UC2</a:t>
                      </a:r>
                    </a:p>
                  </a:txBody>
                  <a:tcPr marL="99075" marR="99075" marT="49538" marB="49538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UC3</a:t>
                      </a:r>
                    </a:p>
                  </a:txBody>
                  <a:tcPr marL="99075" marR="99075" marT="49538" marB="49538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UC4</a:t>
                      </a:r>
                    </a:p>
                  </a:txBody>
                  <a:tcPr marL="99075" marR="99075" marT="49538" marB="49538" anchor="b"/>
                </a:tc>
                <a:extLst>
                  <a:ext uri="{0D108BD9-81ED-4DB2-BD59-A6C34878D82A}">
                    <a16:rowId xmlns:a16="http://schemas.microsoft.com/office/drawing/2014/main" val="1221648908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10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extLst>
                  <a:ext uri="{0D108BD9-81ED-4DB2-BD59-A6C34878D82A}">
                    <a16:rowId xmlns:a16="http://schemas.microsoft.com/office/drawing/2014/main" val="2572504410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20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10 %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extLst>
                  <a:ext uri="{0D108BD9-81ED-4DB2-BD59-A6C34878D82A}">
                    <a16:rowId xmlns:a16="http://schemas.microsoft.com/office/drawing/2014/main" val="4188392189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30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30 %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60 %</a:t>
                      </a:r>
                    </a:p>
                  </a:txBody>
                  <a:tcPr marL="99075" marR="99075" marT="49538" marB="49538"/>
                </a:tc>
                <a:extLst>
                  <a:ext uri="{0D108BD9-81ED-4DB2-BD59-A6C34878D82A}">
                    <a16:rowId xmlns:a16="http://schemas.microsoft.com/office/drawing/2014/main" val="227310142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40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50 %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50 %</a:t>
                      </a:r>
                    </a:p>
                  </a:txBody>
                  <a:tcPr marL="99075" marR="99075" marT="49538" marB="49538"/>
                </a:tc>
                <a:extLst>
                  <a:ext uri="{0D108BD9-81ED-4DB2-BD59-A6C34878D82A}">
                    <a16:rowId xmlns:a16="http://schemas.microsoft.com/office/drawing/2014/main" val="4208757614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50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60 %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40 %</a:t>
                      </a:r>
                    </a:p>
                  </a:txBody>
                  <a:tcPr marL="99075" marR="99075" marT="49538" marB="49538"/>
                </a:tc>
                <a:extLst>
                  <a:ext uri="{0D108BD9-81ED-4DB2-BD59-A6C34878D82A}">
                    <a16:rowId xmlns:a16="http://schemas.microsoft.com/office/drawing/2014/main" val="2580344530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r"/>
                      <a:endParaRPr lang="en-GB" sz="2000" noProof="0" dirty="0"/>
                    </a:p>
                  </a:txBody>
                  <a:tcPr marL="99075" marR="99075" marT="49538" marB="49538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noProof="0" dirty="0"/>
                        <a:t>no network impairment</a:t>
                      </a:r>
                    </a:p>
                  </a:txBody>
                  <a:tcPr marL="99075" marR="99075" marT="49538" marB="49538"/>
                </a:tc>
                <a:tc hMerge="1">
                  <a:txBody>
                    <a:bodyPr/>
                    <a:lstStyle/>
                    <a:p>
                      <a:pPr algn="r"/>
                      <a:endParaRPr lang="en-GB" sz="2000" noProof="0" dirty="0"/>
                    </a:p>
                  </a:txBody>
                  <a:tcPr marL="99075" marR="99075" marT="49538" marB="49538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noProof="0" dirty="0"/>
                        <a:t>50 </a:t>
                      </a:r>
                      <a:r>
                        <a:rPr lang="en-GB" sz="2000" noProof="0" dirty="0" err="1"/>
                        <a:t>ms</a:t>
                      </a:r>
                      <a:r>
                        <a:rPr lang="en-GB" sz="2000" noProof="0" dirty="0"/>
                        <a:t> delay, </a:t>
                      </a:r>
                      <a:br>
                        <a:rPr lang="en-GB" sz="2000" noProof="0" dirty="0"/>
                      </a:br>
                      <a:r>
                        <a:rPr lang="en-GB" sz="2000" noProof="0" dirty="0"/>
                        <a:t>30 % package loss</a:t>
                      </a:r>
                    </a:p>
                  </a:txBody>
                  <a:tcPr marL="99075" marR="99075" marT="49538" marB="49538"/>
                </a:tc>
                <a:tc hMerge="1">
                  <a:txBody>
                    <a:bodyPr/>
                    <a:lstStyle/>
                    <a:p>
                      <a:pPr algn="r"/>
                      <a:endParaRPr lang="en-GB" sz="2000" noProof="0" dirty="0"/>
                    </a:p>
                  </a:txBody>
                  <a:tcPr marL="99075" marR="99075" marT="49538" marB="49538"/>
                </a:tc>
                <a:extLst>
                  <a:ext uri="{0D108BD9-81ED-4DB2-BD59-A6C34878D82A}">
                    <a16:rowId xmlns:a16="http://schemas.microsoft.com/office/drawing/2014/main" val="3781806417"/>
                  </a:ext>
                </a:extLst>
              </a:tr>
            </a:tbl>
          </a:graphicData>
        </a:graphic>
      </p:graphicFrame>
      <p:pic>
        <p:nvPicPr>
          <p:cNvPr id="13" name="Grafik 12" descr="Präsentation mit Kreisdiagramm mit einfarbiger Füllung">
            <a:extLst>
              <a:ext uri="{FF2B5EF4-FFF2-40B4-BE49-F238E27FC236}">
                <a16:creationId xmlns:a16="http://schemas.microsoft.com/office/drawing/2014/main" id="{D1974C44-C439-E5CE-0AAB-F90E7652A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3160" y="617220"/>
            <a:ext cx="150876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80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5D3DEC-FD6D-C9B8-86C4-B80DDD341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11880C-2483-A661-A96C-33A7278D6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A6064C7-B331-C880-37EB-0D85DBC18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fail rate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DCFA11-2BB6-EFA0-19C9-804AFDA5E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1973EECD-A682-A214-C09C-1495BE03CCD7}"/>
              </a:ext>
            </a:extLst>
          </p:cNvPr>
          <p:cNvSpPr txBox="1"/>
          <p:nvPr/>
        </p:nvSpPr>
        <p:spPr>
          <a:xfrm>
            <a:off x="640080" y="2633236"/>
            <a:ext cx="4942912" cy="36669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GB" sz="2000" noProof="0" dirty="0"/>
              <a:t>test failed if sender didn‘t join topic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GB" sz="2000" noProof="0" dirty="0"/>
              <a:t>fail rate = no. failed runs / no. runs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GB" sz="2000" noProof="0" dirty="0"/>
              <a:t>UC1/UC3: </a:t>
            </a:r>
            <a:r>
              <a:rPr lang="en-GB" sz="2000" b="1" noProof="0" dirty="0"/>
              <a:t>Discovery Direct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GB" sz="2000" noProof="0" dirty="0"/>
              <a:t>UC2/UC4: </a:t>
            </a:r>
            <a:r>
              <a:rPr lang="en-GB" sz="2000" b="1" noProof="0" dirty="0"/>
              <a:t>Discovery Relay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GB" sz="2000" noProof="0" dirty="0"/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GB" sz="2000" b="1" noProof="0" dirty="0">
                <a:solidFill>
                  <a:schemeClr val="accent5"/>
                </a:solidFill>
              </a:rPr>
              <a:t>results for 1 bootstrap per 10 peers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GB" sz="2000" b="1" noProof="0" dirty="0">
                <a:solidFill>
                  <a:schemeClr val="accent5"/>
                </a:solidFill>
              </a:rPr>
              <a:t>timing problem in setup or Discovery-related?</a:t>
            </a:r>
          </a:p>
        </p:txBody>
      </p:sp>
      <p:graphicFrame>
        <p:nvGraphicFramePr>
          <p:cNvPr id="3" name="Inhaltsplatzhalter 2">
            <a:extLst>
              <a:ext uri="{FF2B5EF4-FFF2-40B4-BE49-F238E27FC236}">
                <a16:creationId xmlns:a16="http://schemas.microsoft.com/office/drawing/2014/main" id="{DC255E07-C328-F0DE-197E-727733F3A2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1392381"/>
              </p:ext>
            </p:extLst>
          </p:nvPr>
        </p:nvGraphicFramePr>
        <p:xfrm>
          <a:off x="5724659" y="2633236"/>
          <a:ext cx="5827262" cy="3621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066">
                  <a:extLst>
                    <a:ext uri="{9D8B030D-6E8A-4147-A177-3AD203B41FA5}">
                      <a16:colId xmlns:a16="http://schemas.microsoft.com/office/drawing/2014/main" val="3972473227"/>
                    </a:ext>
                  </a:extLst>
                </a:gridCol>
                <a:gridCol w="1205767">
                  <a:extLst>
                    <a:ext uri="{9D8B030D-6E8A-4147-A177-3AD203B41FA5}">
                      <a16:colId xmlns:a16="http://schemas.microsoft.com/office/drawing/2014/main" val="692590649"/>
                    </a:ext>
                  </a:extLst>
                </a:gridCol>
                <a:gridCol w="1114143">
                  <a:extLst>
                    <a:ext uri="{9D8B030D-6E8A-4147-A177-3AD203B41FA5}">
                      <a16:colId xmlns:a16="http://schemas.microsoft.com/office/drawing/2014/main" val="3727828754"/>
                    </a:ext>
                  </a:extLst>
                </a:gridCol>
                <a:gridCol w="1114143">
                  <a:extLst>
                    <a:ext uri="{9D8B030D-6E8A-4147-A177-3AD203B41FA5}">
                      <a16:colId xmlns:a16="http://schemas.microsoft.com/office/drawing/2014/main" val="3705715682"/>
                    </a:ext>
                  </a:extLst>
                </a:gridCol>
                <a:gridCol w="1114143">
                  <a:extLst>
                    <a:ext uri="{9D8B030D-6E8A-4147-A177-3AD203B41FA5}">
                      <a16:colId xmlns:a16="http://schemas.microsoft.com/office/drawing/2014/main" val="3271720053"/>
                    </a:ext>
                  </a:extLst>
                </a:gridCol>
              </a:tblGrid>
              <a:tr h="733158"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no. peers</a:t>
                      </a:r>
                    </a:p>
                  </a:txBody>
                  <a:tcPr marL="99075" marR="99075" marT="49538" marB="49538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UC1</a:t>
                      </a:r>
                    </a:p>
                  </a:txBody>
                  <a:tcPr marL="99075" marR="99075" marT="49538" marB="49538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UC2</a:t>
                      </a:r>
                    </a:p>
                  </a:txBody>
                  <a:tcPr marL="99075" marR="99075" marT="49538" marB="49538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UC3</a:t>
                      </a:r>
                    </a:p>
                  </a:txBody>
                  <a:tcPr marL="99075" marR="99075" marT="49538" marB="49538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UC4</a:t>
                      </a:r>
                    </a:p>
                  </a:txBody>
                  <a:tcPr marL="99075" marR="99075" marT="49538" marB="49538" anchor="b"/>
                </a:tc>
                <a:extLst>
                  <a:ext uri="{0D108BD9-81ED-4DB2-BD59-A6C34878D82A}">
                    <a16:rowId xmlns:a16="http://schemas.microsoft.com/office/drawing/2014/main" val="1221648908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10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5 %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extLst>
                  <a:ext uri="{0D108BD9-81ED-4DB2-BD59-A6C34878D82A}">
                    <a16:rowId xmlns:a16="http://schemas.microsoft.com/office/drawing/2014/main" val="2572504410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20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noProof="0" dirty="0"/>
                        <a:t>60 %</a:t>
                      </a:r>
                    </a:p>
                  </a:txBody>
                  <a:tcPr marL="99075" marR="99075" marT="49538" marB="49538"/>
                </a:tc>
                <a:extLst>
                  <a:ext uri="{0D108BD9-81ED-4DB2-BD59-A6C34878D82A}">
                    <a16:rowId xmlns:a16="http://schemas.microsoft.com/office/drawing/2014/main" val="4188392189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30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extLst>
                  <a:ext uri="{0D108BD9-81ED-4DB2-BD59-A6C34878D82A}">
                    <a16:rowId xmlns:a16="http://schemas.microsoft.com/office/drawing/2014/main" val="227310142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40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extLst>
                  <a:ext uri="{0D108BD9-81ED-4DB2-BD59-A6C34878D82A}">
                    <a16:rowId xmlns:a16="http://schemas.microsoft.com/office/drawing/2014/main" val="4208757614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50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5 %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0 %</a:t>
                      </a:r>
                    </a:p>
                  </a:txBody>
                  <a:tcPr marL="99075" marR="99075" marT="49538" marB="49538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noProof="0" dirty="0"/>
                        <a:t>10 %</a:t>
                      </a:r>
                    </a:p>
                  </a:txBody>
                  <a:tcPr marL="99075" marR="99075" marT="49538" marB="49538"/>
                </a:tc>
                <a:extLst>
                  <a:ext uri="{0D108BD9-81ED-4DB2-BD59-A6C34878D82A}">
                    <a16:rowId xmlns:a16="http://schemas.microsoft.com/office/drawing/2014/main" val="2580344530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r"/>
                      <a:endParaRPr lang="en-GB" sz="2000" noProof="0" dirty="0"/>
                    </a:p>
                  </a:txBody>
                  <a:tcPr marL="99075" marR="99075" marT="49538" marB="49538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noProof="0" dirty="0"/>
                        <a:t>no network impairment</a:t>
                      </a:r>
                    </a:p>
                  </a:txBody>
                  <a:tcPr marL="99075" marR="99075" marT="49538" marB="49538"/>
                </a:tc>
                <a:tc hMerge="1">
                  <a:txBody>
                    <a:bodyPr/>
                    <a:lstStyle/>
                    <a:p>
                      <a:pPr algn="r"/>
                      <a:endParaRPr lang="en-GB" sz="2000" noProof="0" dirty="0"/>
                    </a:p>
                  </a:txBody>
                  <a:tcPr marL="99075" marR="99075" marT="49538" marB="49538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noProof="0" dirty="0"/>
                        <a:t>50 </a:t>
                      </a:r>
                      <a:r>
                        <a:rPr lang="en-GB" sz="2000" noProof="0" dirty="0" err="1"/>
                        <a:t>ms</a:t>
                      </a:r>
                      <a:r>
                        <a:rPr lang="en-GB" sz="2000" noProof="0" dirty="0"/>
                        <a:t> delay, </a:t>
                      </a:r>
                      <a:br>
                        <a:rPr lang="en-GB" sz="2000" noProof="0" dirty="0"/>
                      </a:br>
                      <a:r>
                        <a:rPr lang="en-GB" sz="2000" noProof="0" dirty="0"/>
                        <a:t>30 % package loss</a:t>
                      </a:r>
                    </a:p>
                  </a:txBody>
                  <a:tcPr marL="99075" marR="99075" marT="49538" marB="49538"/>
                </a:tc>
                <a:tc hMerge="1">
                  <a:txBody>
                    <a:bodyPr/>
                    <a:lstStyle/>
                    <a:p>
                      <a:pPr algn="r"/>
                      <a:endParaRPr lang="en-GB" sz="2000" noProof="0" dirty="0"/>
                    </a:p>
                  </a:txBody>
                  <a:tcPr marL="99075" marR="99075" marT="49538" marB="49538"/>
                </a:tc>
                <a:extLst>
                  <a:ext uri="{0D108BD9-81ED-4DB2-BD59-A6C34878D82A}">
                    <a16:rowId xmlns:a16="http://schemas.microsoft.com/office/drawing/2014/main" val="3781806417"/>
                  </a:ext>
                </a:extLst>
              </a:tr>
            </a:tbl>
          </a:graphicData>
        </a:graphic>
      </p:graphicFrame>
      <p:pic>
        <p:nvPicPr>
          <p:cNvPr id="13" name="Grafik 12" descr="Präsentation mit Kreisdiagramm mit einfarbiger Füllung">
            <a:extLst>
              <a:ext uri="{FF2B5EF4-FFF2-40B4-BE49-F238E27FC236}">
                <a16:creationId xmlns:a16="http://schemas.microsoft.com/office/drawing/2014/main" id="{A3FF5A60-FC8F-C920-58F0-930BB1616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3160" y="617220"/>
            <a:ext cx="1508760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494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D99824-090E-811D-016D-D0236C2A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2A4B976-5525-8BC0-208B-B441843E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without network impairments</a:t>
            </a:r>
          </a:p>
        </p:txBody>
      </p:sp>
      <p:sp>
        <p:nvSpPr>
          <p:cNvPr id="26" name="Inhaltsplatzhalter 25">
            <a:extLst>
              <a:ext uri="{FF2B5EF4-FFF2-40B4-BE49-F238E27FC236}">
                <a16:creationId xmlns:a16="http://schemas.microsoft.com/office/drawing/2014/main" id="{98F98728-BB15-3948-B122-27D18E9E13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noProof="0" dirty="0"/>
              <a:t>convergence time ≈ 200 s (as expected)</a:t>
            </a:r>
          </a:p>
          <a:p>
            <a:r>
              <a:rPr lang="en-GB" dirty="0"/>
              <a:t>delivery rate ≈ 100 %</a:t>
            </a:r>
          </a:p>
          <a:p>
            <a:r>
              <a:rPr lang="en-GB" dirty="0"/>
              <a:t>no duplicate messages</a:t>
            </a:r>
          </a:p>
          <a:p>
            <a:r>
              <a:rPr lang="en-GB" noProof="0" dirty="0"/>
              <a:t>no out-of-order messages</a:t>
            </a:r>
          </a:p>
          <a:p>
            <a:r>
              <a:rPr lang="en-GB" dirty="0"/>
              <a:t>join ratio for valid runs ≈ 100 %</a:t>
            </a:r>
          </a:p>
          <a:p>
            <a:r>
              <a:rPr lang="en-GB" b="1" noProof="0" dirty="0"/>
              <a:t>slightly higher latency for Relay Discovery (</a:t>
            </a:r>
            <a:r>
              <a:rPr lang="en-GB" b="1" dirty="0"/>
              <a:t>not significant</a:t>
            </a:r>
            <a:r>
              <a:rPr lang="en-GB" b="1" noProof="0" dirty="0"/>
              <a:t>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EED3D10-7763-AC16-6CA2-4559BAF2C192}"/>
              </a:ext>
            </a:extLst>
          </p:cNvPr>
          <p:cNvSpPr txBox="1"/>
          <p:nvPr/>
        </p:nvSpPr>
        <p:spPr>
          <a:xfrm>
            <a:off x="640080" y="2633236"/>
            <a:ext cx="4942912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GB" noProof="0" dirty="0"/>
          </a:p>
        </p:txBody>
      </p:sp>
      <p:pic>
        <p:nvPicPr>
          <p:cNvPr id="13" name="Grafik 12" descr="Präsentation mit Kreisdiagramm mit einfarbiger Füllung">
            <a:extLst>
              <a:ext uri="{FF2B5EF4-FFF2-40B4-BE49-F238E27FC236}">
                <a16:creationId xmlns:a16="http://schemas.microsoft.com/office/drawing/2014/main" id="{4BB6D721-F085-4617-C432-99B17CC57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3160" y="617220"/>
            <a:ext cx="1508760" cy="1508760"/>
          </a:xfrm>
          <a:prstGeom prst="rect">
            <a:avLst/>
          </a:prstGeom>
        </p:spPr>
      </p:pic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27C3933B-C553-83A4-F63E-E64A467E60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547908" y="2633663"/>
            <a:ext cx="4754033" cy="35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98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B5E12-9074-2A64-7088-19B82A1AC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F90D711-7CF5-AC16-F72E-5519478E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without network impairments</a:t>
            </a:r>
          </a:p>
        </p:txBody>
      </p:sp>
      <p:sp>
        <p:nvSpPr>
          <p:cNvPr id="26" name="Inhaltsplatzhalter 25">
            <a:extLst>
              <a:ext uri="{FF2B5EF4-FFF2-40B4-BE49-F238E27FC236}">
                <a16:creationId xmlns:a16="http://schemas.microsoft.com/office/drawing/2014/main" id="{9ED284EE-021C-9221-2A38-1755BBB509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noProof="0" dirty="0"/>
              <a:t>convergence time ≈ 200 s (as expected)</a:t>
            </a:r>
          </a:p>
          <a:p>
            <a:r>
              <a:rPr lang="en-GB" dirty="0"/>
              <a:t>delivery rate ≈ 100 %</a:t>
            </a:r>
          </a:p>
          <a:p>
            <a:r>
              <a:rPr lang="en-GB" dirty="0"/>
              <a:t>no duplicate messages</a:t>
            </a:r>
          </a:p>
          <a:p>
            <a:r>
              <a:rPr lang="en-GB" noProof="0" dirty="0"/>
              <a:t>no out-of-order messages</a:t>
            </a:r>
          </a:p>
          <a:p>
            <a:r>
              <a:rPr lang="en-GB" dirty="0"/>
              <a:t>join ratio for valid runs ≈ 100 %</a:t>
            </a:r>
          </a:p>
          <a:p>
            <a:r>
              <a:rPr lang="en-GB" b="1" dirty="0"/>
              <a:t>≈ same no. of node hops for both Discovery modes</a:t>
            </a:r>
            <a:endParaRPr lang="en-GB" b="1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BEA30BE-18EE-2E88-0DE1-B81638D39605}"/>
              </a:ext>
            </a:extLst>
          </p:cNvPr>
          <p:cNvSpPr txBox="1"/>
          <p:nvPr/>
        </p:nvSpPr>
        <p:spPr>
          <a:xfrm>
            <a:off x="640080" y="2633236"/>
            <a:ext cx="4942912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GB" noProof="0" dirty="0"/>
          </a:p>
        </p:txBody>
      </p:sp>
      <p:pic>
        <p:nvPicPr>
          <p:cNvPr id="13" name="Grafik 12" descr="Präsentation mit Kreisdiagramm mit einfarbiger Füllung">
            <a:extLst>
              <a:ext uri="{FF2B5EF4-FFF2-40B4-BE49-F238E27FC236}">
                <a16:creationId xmlns:a16="http://schemas.microsoft.com/office/drawing/2014/main" id="{A54B1E6E-5DA5-1A2E-484A-453CDA67E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3160" y="617220"/>
            <a:ext cx="1508760" cy="1508760"/>
          </a:xfrm>
          <a:prstGeom prst="rect">
            <a:avLst/>
          </a:prstGeom>
        </p:spPr>
      </p:pic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578FEDF1-F384-EF22-FF4A-EA419C550E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547908" y="2633663"/>
            <a:ext cx="4754033" cy="35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7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F7CEA-A05A-C539-F9E8-E8B4518B5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29185F7-AB91-E579-277B-9CCD24F5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without network impairments</a:t>
            </a:r>
          </a:p>
        </p:txBody>
      </p:sp>
      <p:sp>
        <p:nvSpPr>
          <p:cNvPr id="26" name="Inhaltsplatzhalter 25">
            <a:extLst>
              <a:ext uri="{FF2B5EF4-FFF2-40B4-BE49-F238E27FC236}">
                <a16:creationId xmlns:a16="http://schemas.microsoft.com/office/drawing/2014/main" id="{19F323C8-0AF3-7571-2F2F-C055BB7479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convergence time ≈ 200 s (as expected)</a:t>
            </a:r>
          </a:p>
          <a:p>
            <a:r>
              <a:rPr lang="en-GB" dirty="0"/>
              <a:t>delivery rate ≈ 100 %</a:t>
            </a:r>
          </a:p>
          <a:p>
            <a:r>
              <a:rPr lang="en-GB" dirty="0"/>
              <a:t>no duplicate messages</a:t>
            </a:r>
          </a:p>
          <a:p>
            <a:r>
              <a:rPr lang="en-GB" noProof="0" dirty="0"/>
              <a:t>no out-of-order messages</a:t>
            </a:r>
          </a:p>
          <a:p>
            <a:r>
              <a:rPr lang="en-GB" dirty="0"/>
              <a:t>join ratio for valid runs ≈ 100 %</a:t>
            </a:r>
          </a:p>
          <a:p>
            <a:r>
              <a:rPr lang="en-GB" b="1" dirty="0"/>
              <a:t>same no. of reconnect events but longer reconnect times</a:t>
            </a:r>
            <a:r>
              <a:rPr lang="en-GB" b="1" noProof="0" dirty="0"/>
              <a:t> for Relay Discovery </a:t>
            </a:r>
            <a:br>
              <a:rPr lang="en-GB" b="1" noProof="0" dirty="0"/>
            </a:br>
            <a:r>
              <a:rPr lang="en-GB" b="1" noProof="0" dirty="0"/>
              <a:t>(as expected)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E56438F-EEA4-22B4-9D00-4AB6F11FCFEB}"/>
              </a:ext>
            </a:extLst>
          </p:cNvPr>
          <p:cNvSpPr txBox="1"/>
          <p:nvPr/>
        </p:nvSpPr>
        <p:spPr>
          <a:xfrm>
            <a:off x="640080" y="2633236"/>
            <a:ext cx="4942912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GB" noProof="0" dirty="0"/>
          </a:p>
        </p:txBody>
      </p:sp>
      <p:pic>
        <p:nvPicPr>
          <p:cNvPr id="13" name="Grafik 12" descr="Präsentation mit Kreisdiagramm mit einfarbiger Füllung">
            <a:extLst>
              <a:ext uri="{FF2B5EF4-FFF2-40B4-BE49-F238E27FC236}">
                <a16:creationId xmlns:a16="http://schemas.microsoft.com/office/drawing/2014/main" id="{A3F00E63-9F60-3133-F23E-A3B01AA7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3160" y="617220"/>
            <a:ext cx="1508760" cy="1508760"/>
          </a:xfrm>
          <a:prstGeom prst="rect">
            <a:avLst/>
          </a:prstGeom>
        </p:spPr>
      </p:pic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2D86DF69-8159-0AFB-D437-C923269D82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547908" y="2633663"/>
            <a:ext cx="4754033" cy="35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51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92C7A1-EE24-6E16-66D7-E944C740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2DADE20-CB6D-C69A-252B-507BA84B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with 50 </a:t>
            </a:r>
            <a:r>
              <a:rPr lang="en-GB" noProof="0" dirty="0" err="1">
                <a:solidFill>
                  <a:schemeClr val="accent1"/>
                </a:solidFill>
              </a:rPr>
              <a:t>ms</a:t>
            </a:r>
            <a:r>
              <a:rPr lang="en-GB" noProof="0" dirty="0">
                <a:solidFill>
                  <a:schemeClr val="accent1"/>
                </a:solidFill>
              </a:rPr>
              <a:t> delay and 30 % package loss</a:t>
            </a:r>
          </a:p>
        </p:txBody>
      </p:sp>
      <p:sp>
        <p:nvSpPr>
          <p:cNvPr id="26" name="Inhaltsplatzhalter 25">
            <a:extLst>
              <a:ext uri="{FF2B5EF4-FFF2-40B4-BE49-F238E27FC236}">
                <a16:creationId xmlns:a16="http://schemas.microsoft.com/office/drawing/2014/main" id="{958E7C9C-063F-C0CD-7E40-335DF62A8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2633472"/>
            <a:ext cx="5455921" cy="3566160"/>
          </a:xfrm>
        </p:spPr>
        <p:txBody>
          <a:bodyPr>
            <a:normAutofit lnSpcReduction="10000"/>
          </a:bodyPr>
          <a:lstStyle/>
          <a:p>
            <a:r>
              <a:rPr lang="en-GB" noProof="0" dirty="0"/>
              <a:t>convergence time still ≈ 200 s (</a:t>
            </a:r>
            <a:r>
              <a:rPr lang="en-GB" dirty="0"/>
              <a:t>not</a:t>
            </a:r>
            <a:r>
              <a:rPr lang="en-GB" noProof="0" dirty="0"/>
              <a:t> expected)</a:t>
            </a:r>
          </a:p>
          <a:p>
            <a:r>
              <a:rPr lang="en-GB" dirty="0"/>
              <a:t>delivery rate still ≈ 100 % (not expected)</a:t>
            </a:r>
          </a:p>
          <a:p>
            <a:r>
              <a:rPr lang="en-GB" dirty="0"/>
              <a:t>no duplicate messages (not expected)</a:t>
            </a:r>
          </a:p>
          <a:p>
            <a:r>
              <a:rPr lang="en-GB" dirty="0"/>
              <a:t>join ratio for valid runs drops to ≈ 80 % for Relay Discovery</a:t>
            </a:r>
          </a:p>
          <a:p>
            <a:r>
              <a:rPr lang="en-GB" noProof="0" dirty="0"/>
              <a:t>latency increases for both Discovery Modes</a:t>
            </a:r>
            <a:r>
              <a:rPr lang="en-GB" dirty="0"/>
              <a:t> </a:t>
            </a:r>
            <a:r>
              <a:rPr lang="en-GB" noProof="0" dirty="0"/>
              <a:t>(as expected)</a:t>
            </a:r>
          </a:p>
          <a:p>
            <a:r>
              <a:rPr lang="en-GB" b="1" dirty="0"/>
              <a:t>significant no. out-of-order messages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7785128-917F-5160-3FCE-2166AAED0B6F}"/>
              </a:ext>
            </a:extLst>
          </p:cNvPr>
          <p:cNvSpPr txBox="1"/>
          <p:nvPr/>
        </p:nvSpPr>
        <p:spPr>
          <a:xfrm>
            <a:off x="640080" y="2633236"/>
            <a:ext cx="4942912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GB" noProof="0" dirty="0"/>
          </a:p>
        </p:txBody>
      </p:sp>
      <p:pic>
        <p:nvPicPr>
          <p:cNvPr id="13" name="Grafik 12" descr="Präsentation mit Kreisdiagramm mit einfarbiger Füllung">
            <a:extLst>
              <a:ext uri="{FF2B5EF4-FFF2-40B4-BE49-F238E27FC236}">
                <a16:creationId xmlns:a16="http://schemas.microsoft.com/office/drawing/2014/main" id="{ACB7F526-BD78-B1AC-E352-EF44FAC39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3160" y="617220"/>
            <a:ext cx="1508760" cy="1508760"/>
          </a:xfrm>
          <a:prstGeom prst="rect">
            <a:avLst/>
          </a:prstGeom>
        </p:spPr>
      </p:pic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CDEAB42E-5128-90F9-E0D3-CD13F41EFA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318250" y="3113088"/>
            <a:ext cx="5213350" cy="260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18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69B47-C46F-5BCF-8593-31F20C2F8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EF8EC0E-ABE0-D3E9-E867-C578114C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with 50 </a:t>
            </a:r>
            <a:r>
              <a:rPr lang="en-GB" dirty="0" err="1">
                <a:solidFill>
                  <a:schemeClr val="accent1"/>
                </a:solidFill>
              </a:rPr>
              <a:t>ms</a:t>
            </a:r>
            <a:r>
              <a:rPr lang="en-GB" dirty="0">
                <a:solidFill>
                  <a:schemeClr val="accent1"/>
                </a:solidFill>
              </a:rPr>
              <a:t> delay and 30 % package loss</a:t>
            </a: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26" name="Inhaltsplatzhalter 25">
            <a:extLst>
              <a:ext uri="{FF2B5EF4-FFF2-40B4-BE49-F238E27FC236}">
                <a16:creationId xmlns:a16="http://schemas.microsoft.com/office/drawing/2014/main" id="{1DDD2769-6427-FF77-6D66-CCCE720B41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convergence time still ≈ 200 s (not expected)</a:t>
            </a:r>
          </a:p>
          <a:p>
            <a:r>
              <a:rPr lang="en-GB" dirty="0"/>
              <a:t>delivery rate still ≈ 100 % (not expected)</a:t>
            </a:r>
          </a:p>
          <a:p>
            <a:r>
              <a:rPr lang="en-GB" dirty="0"/>
              <a:t>no duplicate messages (not expected)</a:t>
            </a:r>
          </a:p>
          <a:p>
            <a:r>
              <a:rPr lang="en-GB" dirty="0"/>
              <a:t>join ratio for valid runs drops to ≈ 80 % for Relay Discovery</a:t>
            </a:r>
          </a:p>
          <a:p>
            <a:r>
              <a:rPr lang="en-GB" dirty="0"/>
              <a:t>latency increases for both Discovery Modes (as expected)</a:t>
            </a:r>
          </a:p>
          <a:p>
            <a:r>
              <a:rPr lang="en-GB" b="1" dirty="0"/>
              <a:t>no. of node hops increases but still ≈ same for both Discovery modes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C17F4F4-B5D1-0291-12EB-2ED5B2D01D7C}"/>
              </a:ext>
            </a:extLst>
          </p:cNvPr>
          <p:cNvSpPr txBox="1"/>
          <p:nvPr/>
        </p:nvSpPr>
        <p:spPr>
          <a:xfrm>
            <a:off x="640080" y="2633236"/>
            <a:ext cx="4942912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GB" noProof="0" dirty="0"/>
          </a:p>
        </p:txBody>
      </p:sp>
      <p:pic>
        <p:nvPicPr>
          <p:cNvPr id="13" name="Grafik 12" descr="Präsentation mit Kreisdiagramm mit einfarbiger Füllung">
            <a:extLst>
              <a:ext uri="{FF2B5EF4-FFF2-40B4-BE49-F238E27FC236}">
                <a16:creationId xmlns:a16="http://schemas.microsoft.com/office/drawing/2014/main" id="{6EDA28F9-DADD-64DA-99E6-098E05DBF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3160" y="617220"/>
            <a:ext cx="1508760" cy="1508760"/>
          </a:xfrm>
          <a:prstGeom prst="rect">
            <a:avLst/>
          </a:prstGeom>
        </p:spPr>
      </p:pic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F1F8CA10-9618-A482-E3CC-ACEE575DB0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547908" y="2633663"/>
            <a:ext cx="4754033" cy="35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17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4FA035-27BF-281D-CFF2-7BDB1E24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2768B0E-A86A-91D8-D1AA-2051258C1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with 50 </a:t>
            </a:r>
            <a:r>
              <a:rPr lang="en-GB" dirty="0" err="1">
                <a:solidFill>
                  <a:schemeClr val="accent1"/>
                </a:solidFill>
              </a:rPr>
              <a:t>ms</a:t>
            </a:r>
            <a:r>
              <a:rPr lang="en-GB" dirty="0">
                <a:solidFill>
                  <a:schemeClr val="accent1"/>
                </a:solidFill>
              </a:rPr>
              <a:t> delay and 30 % package loss</a:t>
            </a: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26" name="Inhaltsplatzhalter 25">
            <a:extLst>
              <a:ext uri="{FF2B5EF4-FFF2-40B4-BE49-F238E27FC236}">
                <a16:creationId xmlns:a16="http://schemas.microsoft.com/office/drawing/2014/main" id="{D4A761BC-F039-FF80-416A-2014152BC8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convergence time still ≈ 200 s (not expected)</a:t>
            </a:r>
          </a:p>
          <a:p>
            <a:r>
              <a:rPr lang="en-GB" dirty="0"/>
              <a:t>delivery rate still ≈ 100 % (not expected)</a:t>
            </a:r>
          </a:p>
          <a:p>
            <a:r>
              <a:rPr lang="en-GB" dirty="0"/>
              <a:t>no duplicate messages (not expected)</a:t>
            </a:r>
          </a:p>
          <a:p>
            <a:r>
              <a:rPr lang="en-GB" dirty="0"/>
              <a:t>join ratio for valid runs drops to ≈ 80 % for Relay Discovery</a:t>
            </a:r>
          </a:p>
          <a:p>
            <a:r>
              <a:rPr lang="en-GB" dirty="0"/>
              <a:t>latency increases for both Discovery Modes (as expected)</a:t>
            </a:r>
          </a:p>
          <a:p>
            <a:r>
              <a:rPr lang="en-GB" b="1" dirty="0"/>
              <a:t>slightly more no. of reconnect events and longer reconnect times</a:t>
            </a:r>
            <a:r>
              <a:rPr lang="en-GB" b="1" noProof="0" dirty="0"/>
              <a:t> for Relay Discovery </a:t>
            </a:r>
            <a:br>
              <a:rPr lang="en-GB" b="1" noProof="0" dirty="0"/>
            </a:br>
            <a:r>
              <a:rPr lang="en-GB" b="1" noProof="0" dirty="0"/>
              <a:t>(as expected)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2C10355-67DC-7437-57E2-22C4082A5126}"/>
              </a:ext>
            </a:extLst>
          </p:cNvPr>
          <p:cNvSpPr txBox="1"/>
          <p:nvPr/>
        </p:nvSpPr>
        <p:spPr>
          <a:xfrm>
            <a:off x="640080" y="2633236"/>
            <a:ext cx="4942912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endParaRPr lang="en-GB" noProof="0" dirty="0"/>
          </a:p>
        </p:txBody>
      </p:sp>
      <p:pic>
        <p:nvPicPr>
          <p:cNvPr id="13" name="Grafik 12" descr="Präsentation mit Kreisdiagramm mit einfarbiger Füllung">
            <a:extLst>
              <a:ext uri="{FF2B5EF4-FFF2-40B4-BE49-F238E27FC236}">
                <a16:creationId xmlns:a16="http://schemas.microsoft.com/office/drawing/2014/main" id="{F138ACD3-3EC6-8D81-1AFB-B58E77B8A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3160" y="617220"/>
            <a:ext cx="1508760" cy="1508760"/>
          </a:xfrm>
          <a:prstGeom prst="rect">
            <a:avLst/>
          </a:prstGeom>
        </p:spPr>
      </p:pic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BC21BA43-0E86-8807-E78D-2CC1E4C758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547908" y="2633663"/>
            <a:ext cx="4754033" cy="35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81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686D5-5FAD-A0CC-C248-ADEA24A7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60C5A31-92AB-ECE9-260C-DB2BB635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iroh</a:t>
            </a:r>
            <a:r>
              <a:rPr lang="en-GB" noProof="0" dirty="0"/>
              <a:t>-gossip testing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02263E2-76C1-B1CC-5EA6-EF8BCE779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4028512" cy="3226826"/>
          </a:xfrm>
        </p:spPr>
        <p:txBody>
          <a:bodyPr>
            <a:normAutofit/>
          </a:bodyPr>
          <a:lstStyle/>
          <a:p>
            <a:pPr algn="ctr"/>
            <a:r>
              <a:rPr lang="en-GB" sz="3200" b="1" noProof="0" dirty="0">
                <a:solidFill>
                  <a:schemeClr val="accent1"/>
                </a:solidFill>
              </a:rPr>
              <a:t>What else </a:t>
            </a:r>
            <a:br>
              <a:rPr lang="en-GB" sz="3200" b="1" noProof="0" dirty="0">
                <a:solidFill>
                  <a:schemeClr val="accent1"/>
                </a:solidFill>
              </a:rPr>
            </a:br>
            <a:r>
              <a:rPr lang="en-GB" sz="3200" b="1" noProof="0" dirty="0">
                <a:solidFill>
                  <a:schemeClr val="accent1"/>
                </a:solidFill>
              </a:rPr>
              <a:t>could be done?</a:t>
            </a:r>
          </a:p>
        </p:txBody>
      </p:sp>
      <p:pic>
        <p:nvPicPr>
          <p:cNvPr id="3" name="Grafik 2" descr="Glühbirne und Zahnrad mit einfarbiger Füllung">
            <a:extLst>
              <a:ext uri="{FF2B5EF4-FFF2-40B4-BE49-F238E27FC236}">
                <a16:creationId xmlns:a16="http://schemas.microsoft.com/office/drawing/2014/main" id="{AD6E9E3B-4BEB-209D-6AF6-435ACB564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3775" y="4452869"/>
            <a:ext cx="1510048" cy="1510048"/>
          </a:xfrm>
          <a:prstGeom prst="rect">
            <a:avLst/>
          </a:prstGeom>
        </p:spPr>
      </p:pic>
      <p:sp>
        <p:nvSpPr>
          <p:cNvPr id="9" name="Inhaltsplatzhalter 16">
            <a:extLst>
              <a:ext uri="{FF2B5EF4-FFF2-40B4-BE49-F238E27FC236}">
                <a16:creationId xmlns:a16="http://schemas.microsoft.com/office/drawing/2014/main" id="{58C8AFAF-838B-38AE-66F2-598B5BBAF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/>
          <a:lstStyle/>
          <a:p>
            <a:pPr marL="0" indent="0" algn="ctr">
              <a:buNone/>
            </a:pPr>
            <a:endParaRPr lang="en-GB" noProof="0" dirty="0"/>
          </a:p>
          <a:p>
            <a:pPr marL="0" indent="0" algn="ctr">
              <a:buNone/>
            </a:pPr>
            <a:r>
              <a:rPr lang="en-GB" b="1" noProof="0" dirty="0">
                <a:solidFill>
                  <a:schemeClr val="accent5"/>
                </a:solidFill>
              </a:rPr>
              <a:t>Disconnect/Reconnect of some peers under Direct/Relay Discovery </a:t>
            </a:r>
            <a:br>
              <a:rPr lang="en-GB" b="1" noProof="0" dirty="0">
                <a:solidFill>
                  <a:schemeClr val="accent5"/>
                </a:solidFill>
              </a:rPr>
            </a:br>
            <a:r>
              <a:rPr lang="en-GB" b="1" noProof="0" dirty="0">
                <a:solidFill>
                  <a:schemeClr val="accent5"/>
                </a:solidFill>
              </a:rPr>
              <a:t>(Use Cases 5 and 6) still missing …</a:t>
            </a:r>
          </a:p>
        </p:txBody>
      </p:sp>
      <p:pic>
        <p:nvPicPr>
          <p:cNvPr id="17" name="Grafik 16" descr="Ein Bild, das Diagramm, Reihe, Rechteck, Text enthält.&#10;&#10;KI-generierte Inhalte können fehlerhaft sein.">
            <a:extLst>
              <a:ext uri="{FF2B5EF4-FFF2-40B4-BE49-F238E27FC236}">
                <a16:creationId xmlns:a16="http://schemas.microsoft.com/office/drawing/2014/main" id="{2DED8AB4-10C7-786C-9031-CE8B78F30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601" y="4064265"/>
            <a:ext cx="4235624" cy="1334221"/>
          </a:xfrm>
          <a:prstGeom prst="rect">
            <a:avLst/>
          </a:prstGeom>
        </p:spPr>
      </p:pic>
      <p:pic>
        <p:nvPicPr>
          <p:cNvPr id="18" name="Grafik 17" descr="Ein Bild, das Schrift, Grafiken, Electric Blue (Farbe), Logo enthält.&#10;&#10;KI-generierte Inhalte können fehlerhaft sein.">
            <a:extLst>
              <a:ext uri="{FF2B5EF4-FFF2-40B4-BE49-F238E27FC236}">
                <a16:creationId xmlns:a16="http://schemas.microsoft.com/office/drawing/2014/main" id="{D9015F44-6100-02EB-C793-6534E53CF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717" y="5660030"/>
            <a:ext cx="2255533" cy="77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1268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1269</Words>
  <Application>Microsoft Office PowerPoint</Application>
  <PresentationFormat>Breitbild</PresentationFormat>
  <Paragraphs>216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1" baseType="lpstr">
      <vt:lpstr>Arial</vt:lpstr>
      <vt:lpstr>Grandview Display</vt:lpstr>
      <vt:lpstr>DashVTI</vt:lpstr>
      <vt:lpstr>Reliability Testing of iroh-gossip in Realistic Network Environments</vt:lpstr>
      <vt:lpstr>Recap: The iroh-gossip</vt:lpstr>
      <vt:lpstr>Recap: The iroh-gossip</vt:lpstr>
      <vt:lpstr>Recap: The iroh-gossip</vt:lpstr>
      <vt:lpstr>iroh-gossip testing</vt:lpstr>
      <vt:lpstr>iroh-gossip testing</vt:lpstr>
      <vt:lpstr>iroh-gossip testing</vt:lpstr>
      <vt:lpstr>iroh-gossip testing</vt:lpstr>
      <vt:lpstr>iroh-gossip testing</vt:lpstr>
      <vt:lpstr>fail rate</vt:lpstr>
      <vt:lpstr>fail rate</vt:lpstr>
      <vt:lpstr>without network impairments</vt:lpstr>
      <vt:lpstr>without network impairments</vt:lpstr>
      <vt:lpstr>without network impairments</vt:lpstr>
      <vt:lpstr>with 50 ms delay and 30 % package loss</vt:lpstr>
      <vt:lpstr>with 50 ms delay and 30 % package loss</vt:lpstr>
      <vt:lpstr>with 50 ms delay and 30 % package loss</vt:lpstr>
      <vt:lpstr>iroh-gossip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Seehuber, Andrea (GymMU)</dc:creator>
  <cp:lastModifiedBy>Seehuber, Andrea (GymMU)</cp:lastModifiedBy>
  <cp:revision>13</cp:revision>
  <dcterms:created xsi:type="dcterms:W3CDTF">2025-10-25T18:12:38Z</dcterms:created>
  <dcterms:modified xsi:type="dcterms:W3CDTF">2025-12-03T14:08:59Z</dcterms:modified>
</cp:coreProperties>
</file>